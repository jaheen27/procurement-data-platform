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7329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5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4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2.png"/><Relationship Id="rId9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5.png"/><Relationship Id="rId4" Type="http://schemas.openxmlformats.org/officeDocument/2006/relationships/image" Target="../media/image2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2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openxmlformats.org/officeDocument/2006/relationships/image" Target="../media/image15.png"/><Relationship Id="rId5" Type="http://schemas.openxmlformats.org/officeDocument/2006/relationships/image" Target="../media/image16.png"/><Relationship Id="rId10" Type="http://schemas.openxmlformats.org/officeDocument/2006/relationships/image" Target="../media/image18.png"/><Relationship Id="rId4" Type="http://schemas.openxmlformats.org/officeDocument/2006/relationships/image" Target="../media/image24.png"/><Relationship Id="rId9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6.png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74520"/>
            <a:ext cx="10360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UC13  ·  ENTERPRISE DATA ENGINEERING 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914400" y="2240280"/>
            <a:ext cx="1036015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Procurement Data Platform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14400" y="3429000"/>
            <a:ext cx="103601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— Project Initiation &amp; Architecture</a:t>
            </a:r>
            <a:endParaRPr lang="en-US" sz="1900" dirty="0"/>
          </a:p>
        </p:txBody>
      </p:sp>
      <p:sp>
        <p:nvSpPr>
          <p:cNvPr id="5" name="Shape 3"/>
          <p:cNvSpPr/>
          <p:nvPr/>
        </p:nvSpPr>
        <p:spPr>
          <a:xfrm>
            <a:off x="932688" y="4160520"/>
            <a:ext cx="2011680" cy="0"/>
          </a:xfrm>
          <a:prstGeom prst="line">
            <a:avLst/>
          </a:prstGeom>
          <a:noFill/>
          <a:ln w="25400">
            <a:solidFill>
              <a:srgbClr val="C98A2C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86688" y="489204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243B57"/>
          </a:solidFill>
          <a:ln/>
        </p:spPr>
      </p:sp>
      <p:pic>
        <p:nvPicPr>
          <p:cNvPr id="7" name="Image 0" descr="/home/claude/assets/icons/users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5288" y="5111496"/>
            <a:ext cx="310896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15288" y="5394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5,000+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1615288" y="5715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&amp; international suppliers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632808" y="489204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243B57"/>
          </a:solidFill>
          <a:ln/>
        </p:spPr>
      </p:sp>
      <p:pic>
        <p:nvPicPr>
          <p:cNvPr id="11" name="Image 1" descr="/home/claude/assets/icons/server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1408" y="5111496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61408" y="5394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861408" y="5715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source systems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7878928" y="4892040"/>
            <a:ext cx="2926080" cy="1051560"/>
          </a:xfrm>
          <a:prstGeom prst="roundRect">
            <a:avLst>
              <a:gd name="adj" fmla="val 6957"/>
            </a:avLst>
          </a:prstGeom>
          <a:solidFill>
            <a:srgbClr val="243B57"/>
          </a:solidFill>
          <a:ln/>
        </p:spPr>
      </p:sp>
      <p:pic>
        <p:nvPicPr>
          <p:cNvPr id="15" name="Image 2" descr="/home/claude/assets/icons/refresh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07528" y="5111496"/>
            <a:ext cx="310896" cy="31089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107528" y="53949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Agile Scrum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8107528" y="571500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9FB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Sprint-based delivery model</a:t>
            </a:r>
            <a:endParaRPr lang="en-US" sz="1050" dirty="0"/>
          </a:p>
        </p:txBody>
      </p:sp>
      <p:sp>
        <p:nvSpPr>
          <p:cNvPr id="18" name="Text 13"/>
          <p:cNvSpPr/>
          <p:nvPr/>
        </p:nvSpPr>
        <p:spPr>
          <a:xfrm>
            <a:off x="914400" y="6355080"/>
            <a:ext cx="103601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6F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Global Manufacturing Ltd.   ·   Sprint Presentation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0: Purpose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Establishing the business and technical foundation before development begins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70992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9" name="Image 1" descr="/home/claude/assets/icons/buildin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181051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69164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the procurement business ecosystem end to end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548640" y="248716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2" name="Image 2" descr="/home/claude/assets/icons/users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587752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4688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stakeholders, data sources, and business problems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548640" y="326440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5" name="Image 3" descr="/home/claude/assets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" y="3364992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24612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project scope, objectives, assumptions, and success criteria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548640" y="404164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8" name="Image 4" descr="/home/claude/assets/icons/workflow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4142232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402336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the high-level solution architecture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548640" y="481888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21" name="Image 5" descr="/home/claude/assets/icons/git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4919472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97280" y="48006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5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collaboration tooling and a structured delivery plan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building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Background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ABC Global needs a unified procurement platform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3545738" cy="1188720"/>
          </a:xfrm>
          <a:prstGeom prst="roundRect">
            <a:avLst>
              <a:gd name="adj" fmla="val 6154"/>
            </a:avLst>
          </a:prstGeom>
          <a:solidFill>
            <a:srgbClr val="EAEFF3"/>
          </a:solidFill>
          <a:ln/>
        </p:spPr>
      </p:sp>
      <p:pic>
        <p:nvPicPr>
          <p:cNvPr id="9" name="Image 1" descr="/home/claude/assets/icons/users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1783080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" y="2075688"/>
            <a:ext cx="31434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6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5,000+</a:t>
            </a:r>
            <a:endParaRPr lang="en-US" sz="2000" dirty="0"/>
          </a:p>
        </p:txBody>
      </p:sp>
      <p:sp>
        <p:nvSpPr>
          <p:cNvPr id="11" name="Text 7"/>
          <p:cNvSpPr/>
          <p:nvPr/>
        </p:nvSpPr>
        <p:spPr>
          <a:xfrm>
            <a:off x="658368" y="2459736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&amp; international suppliers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4322978" y="1600200"/>
            <a:ext cx="3545738" cy="1188720"/>
          </a:xfrm>
          <a:prstGeom prst="roundRect">
            <a:avLst>
              <a:gd name="adj" fmla="val 6154"/>
            </a:avLst>
          </a:prstGeom>
          <a:solidFill>
            <a:srgbClr val="EAEFF3"/>
          </a:solidFill>
          <a:ln/>
        </p:spPr>
      </p:sp>
      <p:pic>
        <p:nvPicPr>
          <p:cNvPr id="13" name="Image 2" descr="/home/claude/assets/icons/server_navy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4146" y="178308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24146" y="2075688"/>
            <a:ext cx="31434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6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4524146" y="2459736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enterprise systems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8188757" y="1600200"/>
            <a:ext cx="3545738" cy="1188720"/>
          </a:xfrm>
          <a:prstGeom prst="roundRect">
            <a:avLst>
              <a:gd name="adj" fmla="val 6154"/>
            </a:avLst>
          </a:prstGeom>
          <a:solidFill>
            <a:srgbClr val="EAEFF3"/>
          </a:solidFill>
          <a:ln/>
        </p:spPr>
      </p:sp>
      <p:pic>
        <p:nvPicPr>
          <p:cNvPr id="17" name="Image 3" descr="/home/claude/assets/icons/chart_navy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9925" y="1783080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8389925" y="2075688"/>
            <a:ext cx="314340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9A641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1,000s</a:t>
            </a:r>
            <a:endParaRPr lang="en-US" sz="2000" dirty="0"/>
          </a:p>
        </p:txBody>
      </p:sp>
      <p:sp>
        <p:nvSpPr>
          <p:cNvPr id="19" name="Text 13"/>
          <p:cNvSpPr/>
          <p:nvPr/>
        </p:nvSpPr>
        <p:spPr>
          <a:xfrm>
            <a:off x="8389925" y="2459736"/>
            <a:ext cx="314340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 transactions daily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48640" y="312724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21" name="Image 4" descr="/home/claude/assets/icons/plug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227832"/>
            <a:ext cx="164592" cy="164592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097280" y="309067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sourcing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1097280" y="3364992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materials, machinery, office supplies, and services procured from suppliers worldwide.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548640" y="3931920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25" name="Image 5" descr="/home/claude/assets/icons/ale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4032504"/>
            <a:ext cx="164592" cy="164592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1097280" y="3895344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Disconnected systems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1097280" y="4169664"/>
            <a:ext cx="10149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ERP, procurement, vendor, warehouse, inventory, finance, contract, and performance systems all operate independently.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aler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compounding cost of disconnected systems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600200"/>
            <a:ext cx="1999427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600200"/>
            <a:ext cx="185312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systems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2456627" y="190652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11" name="Shape 8"/>
          <p:cNvSpPr/>
          <p:nvPr/>
        </p:nvSpPr>
        <p:spPr>
          <a:xfrm>
            <a:off x="2776667" y="1600200"/>
            <a:ext cx="1999427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12" name="Text 9"/>
          <p:cNvSpPr/>
          <p:nvPr/>
        </p:nvSpPr>
        <p:spPr>
          <a:xfrm>
            <a:off x="2849819" y="1600200"/>
            <a:ext cx="185312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data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776094" y="190652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14" name="Shape 11"/>
          <p:cNvSpPr/>
          <p:nvPr/>
        </p:nvSpPr>
        <p:spPr>
          <a:xfrm>
            <a:off x="5096134" y="1600200"/>
            <a:ext cx="1999427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15" name="Text 12"/>
          <p:cNvSpPr/>
          <p:nvPr/>
        </p:nvSpPr>
        <p:spPr>
          <a:xfrm>
            <a:off x="5169286" y="1600200"/>
            <a:ext cx="185312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issues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095561" y="190652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17" name="Shape 14"/>
          <p:cNvSpPr/>
          <p:nvPr/>
        </p:nvSpPr>
        <p:spPr>
          <a:xfrm>
            <a:off x="7415601" y="1600200"/>
            <a:ext cx="1999427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18" name="Text 15"/>
          <p:cNvSpPr/>
          <p:nvPr/>
        </p:nvSpPr>
        <p:spPr>
          <a:xfrm>
            <a:off x="7488753" y="1600200"/>
            <a:ext cx="185312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visibility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9415028" y="190652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20" name="Shape 17"/>
          <p:cNvSpPr/>
          <p:nvPr/>
        </p:nvSpPr>
        <p:spPr>
          <a:xfrm>
            <a:off x="9735068" y="1600200"/>
            <a:ext cx="1999427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21" name="Text 18"/>
          <p:cNvSpPr/>
          <p:nvPr/>
        </p:nvSpPr>
        <p:spPr>
          <a:xfrm>
            <a:off x="9808220" y="1600200"/>
            <a:ext cx="1853123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Delayed decisions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2990088"/>
            <a:ext cx="365760" cy="36576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23" name="Image 1" descr="/home/claude/assets/icons/x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090672"/>
            <a:ext cx="164592" cy="164592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1097280" y="297180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records are duplicated or inconsistent across systems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548640" y="3557016"/>
            <a:ext cx="365760" cy="36576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26" name="Image 2" descr="/home/claude/assets/icons/x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3657600"/>
            <a:ext cx="164592" cy="16459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97280" y="353872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requests, orders, receipts, invoices, and payments are hard to connect</a:t>
            </a:r>
            <a:endParaRPr lang="en-US" sz="1300" dirty="0"/>
          </a:p>
        </p:txBody>
      </p:sp>
      <p:sp>
        <p:nvSpPr>
          <p:cNvPr id="28" name="Shape 23"/>
          <p:cNvSpPr/>
          <p:nvPr/>
        </p:nvSpPr>
        <p:spPr>
          <a:xfrm>
            <a:off x="548640" y="4123944"/>
            <a:ext cx="365760" cy="36576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29" name="Image 3" descr="/home/claude/assets/icons/x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224528"/>
            <a:ext cx="164592" cy="164592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1097280" y="4105656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performance and contract compliance are difficult to monitor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548640" y="4690872"/>
            <a:ext cx="365760" cy="36576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32" name="Image 4" descr="/home/claude/assets/icons/x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4791456"/>
            <a:ext cx="164592" cy="16459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097280" y="4672584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replenishment and procurement cost control are less effective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targe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platform must achieve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9" name="Image 1" descr="/home/claude/assets/icons/plug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224" y="1764792"/>
            <a:ext cx="164592" cy="16459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97280" y="164592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procurement data from heterogeneous enterprise sources</a:t>
            </a:r>
            <a:endParaRPr lang="en-US" sz="1600" dirty="0"/>
          </a:p>
        </p:txBody>
      </p:sp>
      <p:sp>
        <p:nvSpPr>
          <p:cNvPr id="11" name="Shape 7"/>
          <p:cNvSpPr/>
          <p:nvPr/>
        </p:nvSpPr>
        <p:spPr>
          <a:xfrm>
            <a:off x="548640" y="2377440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2" name="Image 2" descr="/home/claude/assets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224" y="2478024"/>
            <a:ext cx="164592" cy="16459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97280" y="2359152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validate, and standardize procurement and supplier records</a:t>
            </a:r>
            <a:endParaRPr lang="en-US" sz="1600" dirty="0"/>
          </a:p>
        </p:txBody>
      </p:sp>
      <p:sp>
        <p:nvSpPr>
          <p:cNvPr id="14" name="Shape 9"/>
          <p:cNvSpPr/>
          <p:nvPr/>
        </p:nvSpPr>
        <p:spPr>
          <a:xfrm>
            <a:off x="548640" y="3090672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5" name="Image 3" descr="/home/claude/assets/icons/database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" y="3191256"/>
            <a:ext cx="164592" cy="16459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97280" y="3072384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curated data in an enterprise PostgreSQL data warehouse</a:t>
            </a:r>
            <a:endParaRPr lang="en-US" sz="1600" dirty="0"/>
          </a:p>
        </p:txBody>
      </p:sp>
      <p:sp>
        <p:nvSpPr>
          <p:cNvPr id="17" name="Shape 11"/>
          <p:cNvSpPr/>
          <p:nvPr/>
        </p:nvSpPr>
        <p:spPr>
          <a:xfrm>
            <a:off x="548640" y="3803904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8" name="Image 4" descr="/home/claude/assets/icons/clipboard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224" y="3904488"/>
            <a:ext cx="164592" cy="164592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97280" y="3785616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metadata, audit logs, and end-to-end data lineage</a:t>
            </a:r>
            <a:endParaRPr lang="en-US" sz="1600" dirty="0"/>
          </a:p>
        </p:txBody>
      </p:sp>
      <p:sp>
        <p:nvSpPr>
          <p:cNvPr id="20" name="Shape 13"/>
          <p:cNvSpPr/>
          <p:nvPr/>
        </p:nvSpPr>
        <p:spPr>
          <a:xfrm>
            <a:off x="548640" y="4517136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21" name="Image 5" descr="/home/claude/assets/icons/chart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9224" y="4617720"/>
            <a:ext cx="164592" cy="164592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097280" y="4498848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 procurement, supplier, inventory, and executive analytics</a:t>
            </a:r>
            <a:endParaRPr lang="en-US" sz="1600" dirty="0"/>
          </a:p>
        </p:txBody>
      </p:sp>
      <p:sp>
        <p:nvSpPr>
          <p:cNvPr id="23" name="Shape 15"/>
          <p:cNvSpPr/>
          <p:nvPr/>
        </p:nvSpPr>
        <p:spPr>
          <a:xfrm>
            <a:off x="548640" y="5230368"/>
            <a:ext cx="365760" cy="365760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24" name="Image 6" descr="/home/claude/assets/icons/git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224" y="5330952"/>
            <a:ext cx="164592" cy="164592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097280" y="5212080"/>
            <a:ext cx="10149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Collaborate using Git and GitHub with enterprise-standard documentation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us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Stakeholders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or depends on the platform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626570"/>
              </p:ext>
            </p:extLst>
          </p:nvPr>
        </p:nvGraphicFramePr>
        <p:xfrm>
          <a:off x="457200" y="1645920"/>
          <a:ext cx="11274552" cy="4114803"/>
        </p:xfrm>
        <a:graphic>
          <a:graphicData uri="http://schemas.openxmlformats.org/drawingml/2006/table">
            <a:tbl>
              <a:tblPr/>
              <a:tblGrid>
                <a:gridCol w="3749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55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 need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Procurement team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Spend, purchase orders, cycle time, supplier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Supplier management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Ratings, delivery reliability, quality, compliance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Warehouse / inventory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Stock levels, replenishment, warehouse visibility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Accounts Payable / Finance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Invoices, payments, outstanding and overdue amounts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Executives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Trusted KPIs and consolidated reporting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782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 / IT team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Reliable pipelines, governance, lineage, and support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workflow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Business Lifecycle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business process represented by the data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2579294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9" name="Text 6"/>
          <p:cNvSpPr/>
          <p:nvPr/>
        </p:nvSpPr>
        <p:spPr>
          <a:xfrm>
            <a:off x="530352" y="1737360"/>
            <a:ext cx="24329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036494" y="204368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11" name="Shape 8"/>
          <p:cNvSpPr/>
          <p:nvPr/>
        </p:nvSpPr>
        <p:spPr>
          <a:xfrm>
            <a:off x="3356534" y="1737360"/>
            <a:ext cx="2579294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12" name="Text 9"/>
          <p:cNvSpPr/>
          <p:nvPr/>
        </p:nvSpPr>
        <p:spPr>
          <a:xfrm>
            <a:off x="3429686" y="1737360"/>
            <a:ext cx="24329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Requisition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5935828" y="204368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14" name="Shape 11"/>
          <p:cNvSpPr/>
          <p:nvPr/>
        </p:nvSpPr>
        <p:spPr>
          <a:xfrm>
            <a:off x="6255868" y="1737360"/>
            <a:ext cx="2579294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15" name="Text 12"/>
          <p:cNvSpPr/>
          <p:nvPr/>
        </p:nvSpPr>
        <p:spPr>
          <a:xfrm>
            <a:off x="6329020" y="1737360"/>
            <a:ext cx="24329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835161" y="204368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17" name="Shape 14"/>
          <p:cNvSpPr/>
          <p:nvPr/>
        </p:nvSpPr>
        <p:spPr>
          <a:xfrm>
            <a:off x="9155201" y="1737360"/>
            <a:ext cx="2579294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18" name="Text 15"/>
          <p:cNvSpPr/>
          <p:nvPr/>
        </p:nvSpPr>
        <p:spPr>
          <a:xfrm>
            <a:off x="9228353" y="1737360"/>
            <a:ext cx="243299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/ Contract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57200" y="2788920"/>
            <a:ext cx="3545738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20" name="Text 17"/>
          <p:cNvSpPr/>
          <p:nvPr/>
        </p:nvSpPr>
        <p:spPr>
          <a:xfrm>
            <a:off x="530352" y="2788920"/>
            <a:ext cx="33994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Order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4002938" y="309524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22" name="Shape 19"/>
          <p:cNvSpPr/>
          <p:nvPr/>
        </p:nvSpPr>
        <p:spPr>
          <a:xfrm>
            <a:off x="4322978" y="2788920"/>
            <a:ext cx="3545738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23" name="Text 20"/>
          <p:cNvSpPr/>
          <p:nvPr/>
        </p:nvSpPr>
        <p:spPr>
          <a:xfrm>
            <a:off x="4396130" y="2788920"/>
            <a:ext cx="33994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/ Receipt</a:t>
            </a:r>
            <a:endParaRPr lang="en-US" sz="1250" dirty="0"/>
          </a:p>
        </p:txBody>
      </p:sp>
      <p:sp>
        <p:nvSpPr>
          <p:cNvPr id="24" name="Shape 21"/>
          <p:cNvSpPr/>
          <p:nvPr/>
        </p:nvSpPr>
        <p:spPr>
          <a:xfrm>
            <a:off x="7868717" y="3095244"/>
            <a:ext cx="265176" cy="164592"/>
          </a:xfrm>
          <a:prstGeom prst="chevron">
            <a:avLst/>
          </a:prstGeom>
          <a:solidFill>
            <a:srgbClr val="C98A2C"/>
          </a:solidFill>
          <a:ln/>
        </p:spPr>
      </p:sp>
      <p:sp>
        <p:nvSpPr>
          <p:cNvPr id="25" name="Shape 22"/>
          <p:cNvSpPr/>
          <p:nvPr/>
        </p:nvSpPr>
        <p:spPr>
          <a:xfrm>
            <a:off x="8188757" y="2788920"/>
            <a:ext cx="3545738" cy="777240"/>
          </a:xfrm>
          <a:prstGeom prst="roundRect">
            <a:avLst>
              <a:gd name="adj" fmla="val 8235"/>
            </a:avLst>
          </a:prstGeom>
          <a:solidFill>
            <a:srgbClr val="3E6680"/>
          </a:solidFill>
          <a:ln/>
        </p:spPr>
      </p:sp>
      <p:sp>
        <p:nvSpPr>
          <p:cNvPr id="26" name="Text 23"/>
          <p:cNvSpPr/>
          <p:nvPr/>
        </p:nvSpPr>
        <p:spPr>
          <a:xfrm>
            <a:off x="8261909" y="2788920"/>
            <a:ext cx="339943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Invoice / Payment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457200" y="3977640"/>
            <a:ext cx="112745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connects these events so a single procurement transaction can be traced end to end, from initial request through final payment.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clipboar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and Boundaries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included in the project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5410048" cy="4206240"/>
          </a:xfrm>
          <a:prstGeom prst="roundRect">
            <a:avLst>
              <a:gd name="adj" fmla="val 1739"/>
            </a:avLst>
          </a:prstGeom>
          <a:solidFill>
            <a:srgbClr val="EAEFF3"/>
          </a:solidFill>
          <a:ln/>
        </p:spPr>
      </p:sp>
      <p:sp>
        <p:nvSpPr>
          <p:cNvPr id="9" name="Text 6"/>
          <p:cNvSpPr/>
          <p:nvPr/>
        </p:nvSpPr>
        <p:spPr>
          <a:xfrm>
            <a:off x="731520" y="192024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 scope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520" y="2496312"/>
            <a:ext cx="256032" cy="256032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1" name="Image 1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2560320"/>
            <a:ext cx="137160" cy="137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15567" y="2414016"/>
            <a:ext cx="465770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Procurement, suppliers, products, contracts, requisitions, purchase orders, inventory, warehouses, invoices, and supplier performance</a:t>
            </a:r>
            <a:endParaRPr lang="en-US" sz="1600" dirty="0"/>
          </a:p>
        </p:txBody>
      </p:sp>
      <p:sp>
        <p:nvSpPr>
          <p:cNvPr id="13" name="Shape 9"/>
          <p:cNvSpPr/>
          <p:nvPr/>
        </p:nvSpPr>
        <p:spPr>
          <a:xfrm>
            <a:off x="731520" y="3782209"/>
            <a:ext cx="256032" cy="256032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4" name="Image 2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0956" y="3846216"/>
            <a:ext cx="137160" cy="1371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15567" y="3655093"/>
            <a:ext cx="4657703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Ingestion, staging, profiling, quality checks, warehouse modeling, lineage, metadata, dashboards, testing, and documentation</a:t>
            </a:r>
            <a:endParaRPr lang="en-US" sz="1600" dirty="0"/>
          </a:p>
        </p:txBody>
      </p:sp>
      <p:sp>
        <p:nvSpPr>
          <p:cNvPr id="16" name="Shape 11"/>
          <p:cNvSpPr/>
          <p:nvPr/>
        </p:nvSpPr>
        <p:spPr>
          <a:xfrm>
            <a:off x="6283528" y="1679089"/>
            <a:ext cx="5410048" cy="4206240"/>
          </a:xfrm>
          <a:prstGeom prst="roundRect">
            <a:avLst>
              <a:gd name="adj" fmla="val 1739"/>
            </a:avLst>
          </a:prstGeom>
          <a:solidFill>
            <a:srgbClr val="EAEFF3"/>
          </a:solidFill>
          <a:ln/>
        </p:spPr>
      </p:sp>
      <p:sp>
        <p:nvSpPr>
          <p:cNvPr id="17" name="Text 12"/>
          <p:cNvSpPr/>
          <p:nvPr/>
        </p:nvSpPr>
        <p:spPr>
          <a:xfrm>
            <a:off x="6598768" y="1920240"/>
            <a:ext cx="48614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 of scope (prototype)</a:t>
            </a:r>
            <a:endParaRPr lang="en-US" sz="1600" dirty="0"/>
          </a:p>
        </p:txBody>
      </p:sp>
      <p:sp>
        <p:nvSpPr>
          <p:cNvPr id="18" name="Shape 13"/>
          <p:cNvSpPr/>
          <p:nvPr/>
        </p:nvSpPr>
        <p:spPr>
          <a:xfrm>
            <a:off x="6598768" y="2496312"/>
            <a:ext cx="256032" cy="256032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19" name="Image 3" descr="/home/claude/assets/icons/x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204" y="2560320"/>
            <a:ext cx="137160" cy="1371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82816" y="2414016"/>
            <a:ext cx="449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integration with real production systems and live enterprise transactions</a:t>
            </a:r>
            <a:endParaRPr lang="en-US" sz="1600" dirty="0"/>
          </a:p>
        </p:txBody>
      </p:sp>
      <p:sp>
        <p:nvSpPr>
          <p:cNvPr id="21" name="Shape 15"/>
          <p:cNvSpPr/>
          <p:nvPr/>
        </p:nvSpPr>
        <p:spPr>
          <a:xfrm>
            <a:off x="6598768" y="3791171"/>
            <a:ext cx="256032" cy="256032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22" name="Image 4" descr="/home/claude/assets/icons/x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58204" y="3873109"/>
            <a:ext cx="137160" cy="1371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982816" y="3744735"/>
            <a:ext cx="449564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uses representative datasets to demonstrate an enterprise-scale design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>
            <a:extLst>
              <a:ext uri="{FF2B5EF4-FFF2-40B4-BE49-F238E27FC236}">
                <a16:creationId xmlns:a16="http://schemas.microsoft.com/office/drawing/2014/main" id="{09A6E5B8-48CA-9FC2-DB01-66F851B560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738"/>
          <a:stretch>
            <a:fillRect/>
          </a:stretch>
        </p:blipFill>
        <p:spPr>
          <a:xfrm>
            <a:off x="1411045" y="685799"/>
            <a:ext cx="8656320" cy="5872327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workflow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Solution Architecture</a:t>
            </a:r>
            <a:endParaRPr lang="en-US" sz="250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layers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Layers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the platform is separated into trust tiers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7373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A8763E">
              <a:alpha val="12000"/>
            </a:srgbClr>
          </a:solidFill>
          <a:ln w="15875">
            <a:solidFill>
              <a:srgbClr val="A8763E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31520" y="2011680"/>
            <a:ext cx="502920" cy="502920"/>
          </a:xfrm>
          <a:prstGeom prst="ellipse">
            <a:avLst/>
          </a:prstGeom>
          <a:solidFill>
            <a:srgbClr val="A8763E"/>
          </a:solidFill>
          <a:ln/>
        </p:spPr>
      </p:sp>
      <p:pic>
        <p:nvPicPr>
          <p:cNvPr id="10" name="Image 1" descr="/home/claude/assets/icons/folder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9536" y="2139696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" y="2651760"/>
            <a:ext cx="29970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Bronze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731520" y="3108960"/>
            <a:ext cx="2997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Preserve source data as received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31520" y="3611880"/>
            <a:ext cx="29970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files and staging tables, kept unmodified for traceability and reprocessing.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322978" y="17373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8C97A3">
              <a:alpha val="12000"/>
            </a:srgbClr>
          </a:solidFill>
          <a:ln w="15875">
            <a:solidFill>
              <a:srgbClr val="8C97A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597298" y="2011680"/>
            <a:ext cx="502920" cy="502920"/>
          </a:xfrm>
          <a:prstGeom prst="ellipse">
            <a:avLst/>
          </a:prstGeom>
          <a:solidFill>
            <a:srgbClr val="8C97A3"/>
          </a:solidFill>
          <a:ln/>
        </p:spPr>
      </p:sp>
      <p:pic>
        <p:nvPicPr>
          <p:cNvPr id="16" name="Image 2" descr="/home/claude/assets/icons/shield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5314" y="2139696"/>
            <a:ext cx="256032" cy="25603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597298" y="2651760"/>
            <a:ext cx="29970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Silver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4597298" y="3108960"/>
            <a:ext cx="2997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standardize, and validate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97298" y="3611880"/>
            <a:ext cx="29970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Conformed supplier, procurement, inventory, and invoice records.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8188757" y="1737360"/>
            <a:ext cx="3545738" cy="3931920"/>
          </a:xfrm>
          <a:prstGeom prst="roundRect">
            <a:avLst>
              <a:gd name="adj" fmla="val 2579"/>
            </a:avLst>
          </a:prstGeom>
          <a:solidFill>
            <a:srgbClr val="C98A2C">
              <a:alpha val="12000"/>
            </a:srgbClr>
          </a:solidFill>
          <a:ln w="15875">
            <a:solidFill>
              <a:srgbClr val="C98A2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8463077" y="2011680"/>
            <a:ext cx="502920" cy="502920"/>
          </a:xfrm>
          <a:prstGeom prst="ellipse">
            <a:avLst/>
          </a:prstGeom>
          <a:solidFill>
            <a:srgbClr val="C98A2C"/>
          </a:solidFill>
          <a:ln/>
        </p:spPr>
      </p:sp>
      <p:pic>
        <p:nvPicPr>
          <p:cNvPr id="22" name="Image 3" descr="/home/claude/assets/icons/chart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91093" y="2139696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463077" y="2651760"/>
            <a:ext cx="299709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Gold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8463077" y="3108960"/>
            <a:ext cx="299709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 business analytics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8463077" y="3611880"/>
            <a:ext cx="299709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tables, dimension tables, data marts, and KPI-ready data.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code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selected for the solution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7511210"/>
              </p:ext>
            </p:extLst>
          </p:nvPr>
        </p:nvGraphicFramePr>
        <p:xfrm>
          <a:off x="457200" y="1691640"/>
          <a:ext cx="11274552" cy="4023362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5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47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Pentaho Data Integration (Spoon)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Extract, transform, validate, and load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PostgreSQL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Staging, warehouse, marts, logs, and metadata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Programming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/ Pandas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Profiling, cleansing, and analysis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Reporting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Power BI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Dashboards and executive reporting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Version control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 / GitHub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Collaboration, history, and releases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476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Methodology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Agile Scrum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600" dirty="0">
                          <a:solidFill>
                            <a:srgbClr val="1B2A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Sprint planning and incremental delivery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7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7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fold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Repository Structure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project artifacts will be organized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5501488" cy="960120"/>
          </a:xfrm>
          <a:prstGeom prst="roundRect">
            <a:avLst>
              <a:gd name="adj" fmla="val 7619"/>
            </a:avLst>
          </a:prstGeom>
          <a:solidFill>
            <a:srgbClr val="EAEFF3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18745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0" name="Image 1" descr="/home/claude/assets/icons/file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76" y="1956816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78992" y="1819656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docs/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1078992" y="2112264"/>
            <a:ext cx="467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BRD, architecture, data dictionary, reports, presentations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6233008" y="1691640"/>
            <a:ext cx="5501488" cy="960120"/>
          </a:xfrm>
          <a:prstGeom prst="roundRect">
            <a:avLst>
              <a:gd name="adj" fmla="val 7619"/>
            </a:avLst>
          </a:prstGeom>
          <a:solidFill>
            <a:srgbClr val="EAEFF3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415888" y="18745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15" name="Image 2" descr="/home/claude/assets/icons/database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98184" y="1956816"/>
            <a:ext cx="164592" cy="16459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854800" y="1819656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datasets/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6854800" y="2112264"/>
            <a:ext cx="467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 source data organized by business domain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834640"/>
            <a:ext cx="5501488" cy="960120"/>
          </a:xfrm>
          <a:prstGeom prst="roundRect">
            <a:avLst>
              <a:gd name="adj" fmla="val 7619"/>
            </a:avLst>
          </a:prstGeom>
          <a:solidFill>
            <a:srgbClr val="EAEFF3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640080" y="30175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20" name="Image 3" descr="/home/claude/assets/icons/workflow_whit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2376" y="3099816"/>
            <a:ext cx="164592" cy="16459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078992" y="2962656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pentaho/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1078992" y="3255264"/>
            <a:ext cx="467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 transformations and orchestration jobs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6233008" y="2834640"/>
            <a:ext cx="5501488" cy="960120"/>
          </a:xfrm>
          <a:prstGeom prst="roundRect">
            <a:avLst>
              <a:gd name="adj" fmla="val 7619"/>
            </a:avLst>
          </a:prstGeom>
          <a:solidFill>
            <a:srgbClr val="EAEFF3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6415888" y="30175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25" name="Image 4" descr="/home/claude/assets/icons/code_whi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98184" y="3099816"/>
            <a:ext cx="164592" cy="16459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854800" y="2962656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python/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6854800" y="3255264"/>
            <a:ext cx="467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Profiling, cleansing, and analysis scripts</a:t>
            </a:r>
            <a:endParaRPr lang="en-US" sz="1200" dirty="0"/>
          </a:p>
        </p:txBody>
      </p:sp>
      <p:sp>
        <p:nvSpPr>
          <p:cNvPr id="28" name="Shape 21"/>
          <p:cNvSpPr/>
          <p:nvPr/>
        </p:nvSpPr>
        <p:spPr>
          <a:xfrm>
            <a:off x="457200" y="3977640"/>
            <a:ext cx="5501488" cy="960120"/>
          </a:xfrm>
          <a:prstGeom prst="roundRect">
            <a:avLst>
              <a:gd name="adj" fmla="val 7619"/>
            </a:avLst>
          </a:prstGeom>
          <a:solidFill>
            <a:srgbClr val="EAEFF3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29" name="Shape 22"/>
          <p:cNvSpPr/>
          <p:nvPr/>
        </p:nvSpPr>
        <p:spPr>
          <a:xfrm>
            <a:off x="640080" y="41605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0" name="Image 5" descr="/home/claude/assets/icons/table_whi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2376" y="4242816"/>
            <a:ext cx="164592" cy="164592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78992" y="4105656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sql/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1078992" y="4398264"/>
            <a:ext cx="467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Database, staging, warehouse, and analytics scripts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6233008" y="3977640"/>
            <a:ext cx="5501488" cy="960120"/>
          </a:xfrm>
          <a:prstGeom prst="roundRect">
            <a:avLst>
              <a:gd name="adj" fmla="val 7619"/>
            </a:avLst>
          </a:prstGeom>
          <a:solidFill>
            <a:srgbClr val="EAEFF3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34" name="Shape 26"/>
          <p:cNvSpPr/>
          <p:nvPr/>
        </p:nvSpPr>
        <p:spPr>
          <a:xfrm>
            <a:off x="6415888" y="41605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5" name="Image 6" descr="/home/claude/assets/icons/clipboard_whit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98184" y="4242816"/>
            <a:ext cx="164592" cy="164592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854800" y="4105656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metadata/ &amp; lineage/</a:t>
            </a:r>
            <a:endParaRPr lang="en-US" sz="1300" dirty="0"/>
          </a:p>
        </p:txBody>
      </p:sp>
      <p:sp>
        <p:nvSpPr>
          <p:cNvPr id="37" name="Text 28"/>
          <p:cNvSpPr/>
          <p:nvPr/>
        </p:nvSpPr>
        <p:spPr>
          <a:xfrm>
            <a:off x="6854800" y="4398264"/>
            <a:ext cx="467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artifacts and source-to-target mapping</a:t>
            </a:r>
            <a:endParaRPr lang="en-US" sz="1200" dirty="0"/>
          </a:p>
        </p:txBody>
      </p:sp>
      <p:sp>
        <p:nvSpPr>
          <p:cNvPr id="38" name="Shape 29"/>
          <p:cNvSpPr/>
          <p:nvPr/>
        </p:nvSpPr>
        <p:spPr>
          <a:xfrm>
            <a:off x="457200" y="5120640"/>
            <a:ext cx="5501488" cy="960120"/>
          </a:xfrm>
          <a:prstGeom prst="roundRect">
            <a:avLst>
              <a:gd name="adj" fmla="val 7619"/>
            </a:avLst>
          </a:prstGeom>
          <a:solidFill>
            <a:srgbClr val="EAEFF3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640080" y="53035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40" name="Image 7" descr="/home/claude/assets/icons/chart_whit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2376" y="5385816"/>
            <a:ext cx="164592" cy="164592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1078992" y="5248656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dashboards/</a:t>
            </a:r>
            <a:endParaRPr lang="en-US" sz="1300" dirty="0"/>
          </a:p>
        </p:txBody>
      </p:sp>
      <p:sp>
        <p:nvSpPr>
          <p:cNvPr id="42" name="Text 32"/>
          <p:cNvSpPr/>
          <p:nvPr/>
        </p:nvSpPr>
        <p:spPr>
          <a:xfrm>
            <a:off x="1078992" y="5541264"/>
            <a:ext cx="467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output and screenshots</a:t>
            </a:r>
            <a:endParaRPr lang="en-US" sz="1200" dirty="0"/>
          </a:p>
        </p:txBody>
      </p:sp>
      <p:sp>
        <p:nvSpPr>
          <p:cNvPr id="43" name="Shape 33"/>
          <p:cNvSpPr/>
          <p:nvPr/>
        </p:nvSpPr>
        <p:spPr>
          <a:xfrm>
            <a:off x="6233008" y="5120640"/>
            <a:ext cx="5501488" cy="960120"/>
          </a:xfrm>
          <a:prstGeom prst="roundRect">
            <a:avLst>
              <a:gd name="adj" fmla="val 7619"/>
            </a:avLst>
          </a:prstGeom>
          <a:solidFill>
            <a:srgbClr val="EAEFF3"/>
          </a:solidFill>
          <a:ln w="9525">
            <a:solidFill>
              <a:srgbClr val="D7DEE4"/>
            </a:solidFill>
            <a:prstDash val="solid"/>
          </a:ln>
        </p:spPr>
      </p:sp>
      <p:sp>
        <p:nvSpPr>
          <p:cNvPr id="44" name="Shape 34"/>
          <p:cNvSpPr/>
          <p:nvPr/>
        </p:nvSpPr>
        <p:spPr>
          <a:xfrm>
            <a:off x="6415888" y="5303520"/>
            <a:ext cx="329184" cy="329184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45" name="Image 8" descr="/home/claude/assets/icons/shield_whit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98184" y="5385816"/>
            <a:ext cx="164592" cy="164592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6854800" y="5248656"/>
            <a:ext cx="467852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tests/</a:t>
            </a:r>
            <a:endParaRPr lang="en-US" sz="1300" dirty="0"/>
          </a:p>
        </p:txBody>
      </p:sp>
      <p:sp>
        <p:nvSpPr>
          <p:cNvPr id="47" name="Text 36"/>
          <p:cNvSpPr/>
          <p:nvPr/>
        </p:nvSpPr>
        <p:spPr>
          <a:xfrm>
            <a:off x="6854800" y="5541264"/>
            <a:ext cx="46785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ETL, database, and data-quality validation evidence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84048"/>
            <a:ext cx="475488" cy="475488"/>
          </a:xfrm>
          <a:prstGeom prst="ellipse">
            <a:avLst/>
          </a:prstGeom>
          <a:solidFill>
            <a:srgbClr val="1B2A41"/>
          </a:solidFill>
          <a:ln/>
        </p:spPr>
      </p:sp>
      <p:pic>
        <p:nvPicPr>
          <p:cNvPr id="3" name="Image 0" descr="/home/claude/assets/icons/filecheck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072" y="502920"/>
            <a:ext cx="237744" cy="23774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3200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B2A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Sprint 0 Deliverables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1097280" y="77724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that the project is ready to begin development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8988552" y="4114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kern="0" spc="1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DELIVERABLES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457200" y="1847088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9" name="Image 1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1920240"/>
            <a:ext cx="146304" cy="14630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868680" y="1828800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 Document (BRD)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57200" y="2414016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2" name="Image 2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2487168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868680" y="2395728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architecture diagram and architecture document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457200" y="2980944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5" name="Image 3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054096"/>
            <a:ext cx="146304" cy="14630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868680" y="2962656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repository with enterprise folder structure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457200" y="3547872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18" name="Image 4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3621024"/>
            <a:ext cx="146304" cy="14630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68680" y="3529584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backlog and sprint backlog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457200" y="4114800"/>
            <a:ext cx="292608" cy="292608"/>
          </a:xfrm>
          <a:prstGeom prst="ellipse">
            <a:avLst/>
          </a:prstGeom>
          <a:solidFill>
            <a:srgbClr val="3E6680"/>
          </a:solidFill>
          <a:ln/>
        </p:spPr>
      </p:sp>
      <p:pic>
        <p:nvPicPr>
          <p:cNvPr id="21" name="Image 5" descr="/home/claude/assets/icons/check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0352" y="4187952"/>
            <a:ext cx="146304" cy="146304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868680" y="4096512"/>
            <a:ext cx="108658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50" dirty="0">
                <a:solidFill>
                  <a:srgbClr val="1B2A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 — scope, stakeholders, assumptions, risks, success criteria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457200" y="4892040"/>
            <a:ext cx="11277295" cy="777240"/>
          </a:xfrm>
          <a:prstGeom prst="roundRect">
            <a:avLst>
              <a:gd name="adj" fmla="val 9412"/>
            </a:avLst>
          </a:prstGeom>
          <a:solidFill>
            <a:srgbClr val="1B2A41"/>
          </a:solidFill>
          <a:ln/>
        </p:spPr>
      </p:sp>
      <p:pic>
        <p:nvPicPr>
          <p:cNvPr id="24" name="Image 6" descr="/home/claude/assets/icons/rocket_go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120640"/>
            <a:ext cx="310896" cy="310896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280160" y="4892040"/>
            <a:ext cx="10058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five deliverables complete — ready to begin Sprint 1 source discovery and ingestion.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685800"/>
            <a:ext cx="103601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98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0  ·  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914400" y="1005840"/>
            <a:ext cx="1036015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project direction is now established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32688" y="1993392"/>
            <a:ext cx="274320" cy="274320"/>
          </a:xfrm>
          <a:prstGeom prst="ellipse">
            <a:avLst/>
          </a:prstGeom>
          <a:solidFill>
            <a:srgbClr val="243B57"/>
          </a:solidFill>
          <a:ln/>
        </p:spPr>
      </p:sp>
      <p:pic>
        <p:nvPicPr>
          <p:cNvPr id="5" name="Image 0" descr="/home/claude/assets/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057400"/>
            <a:ext cx="146304" cy="14630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92024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understand the business problem and its impact on procurement operations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932688" y="2587752"/>
            <a:ext cx="274320" cy="274320"/>
          </a:xfrm>
          <a:prstGeom prst="ellipse">
            <a:avLst/>
          </a:prstGeom>
          <a:solidFill>
            <a:srgbClr val="243B57"/>
          </a:solidFill>
          <a:ln/>
        </p:spPr>
      </p:sp>
      <p:pic>
        <p:nvPicPr>
          <p:cNvPr id="8" name="Image 1" descr="/home/claude/assets/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2651760"/>
            <a:ext cx="146304" cy="14630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5146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know which systems and datasets are relevant to the platform</a:t>
            </a:r>
            <a:endParaRPr lang="en-US" sz="1450" dirty="0"/>
          </a:p>
        </p:txBody>
      </p:sp>
      <p:sp>
        <p:nvSpPr>
          <p:cNvPr id="10" name="Shape 6"/>
          <p:cNvSpPr/>
          <p:nvPr/>
        </p:nvSpPr>
        <p:spPr>
          <a:xfrm>
            <a:off x="932688" y="3182112"/>
            <a:ext cx="274320" cy="274320"/>
          </a:xfrm>
          <a:prstGeom prst="ellipse">
            <a:avLst/>
          </a:prstGeom>
          <a:solidFill>
            <a:srgbClr val="243B57"/>
          </a:solidFill>
          <a:ln/>
        </p:spPr>
      </p:sp>
      <p:pic>
        <p:nvPicPr>
          <p:cNvPr id="11" name="Image 2" descr="/home/claude/assets/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246120"/>
            <a:ext cx="146304" cy="14630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310896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defined the target architecture and technology stack</a:t>
            </a:r>
            <a:endParaRPr lang="en-US" sz="1450" dirty="0"/>
          </a:p>
        </p:txBody>
      </p:sp>
      <p:sp>
        <p:nvSpPr>
          <p:cNvPr id="13" name="Shape 8"/>
          <p:cNvSpPr/>
          <p:nvPr/>
        </p:nvSpPr>
        <p:spPr>
          <a:xfrm>
            <a:off x="932688" y="3776472"/>
            <a:ext cx="274320" cy="274320"/>
          </a:xfrm>
          <a:prstGeom prst="ellipse">
            <a:avLst/>
          </a:prstGeom>
          <a:solidFill>
            <a:srgbClr val="243B57"/>
          </a:solidFill>
          <a:ln/>
        </p:spPr>
      </p:sp>
      <p:pic>
        <p:nvPicPr>
          <p:cNvPr id="14" name="Image 3" descr="/home/claude/assets/icons/check_go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840480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370332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450" dirty="0">
                <a:solidFill>
                  <a:srgbClr val="D7E2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planned the repository structure and delivery process</a:t>
            </a:r>
            <a:endParaRPr lang="en-US" sz="1450" dirty="0"/>
          </a:p>
        </p:txBody>
      </p:sp>
      <p:sp>
        <p:nvSpPr>
          <p:cNvPr id="16" name="Shape 10"/>
          <p:cNvSpPr/>
          <p:nvPr/>
        </p:nvSpPr>
        <p:spPr>
          <a:xfrm>
            <a:off x="914400" y="4572000"/>
            <a:ext cx="10360152" cy="822960"/>
          </a:xfrm>
          <a:prstGeom prst="roundRect">
            <a:avLst>
              <a:gd name="adj" fmla="val 8889"/>
            </a:avLst>
          </a:prstGeom>
          <a:solidFill>
            <a:srgbClr val="243B57"/>
          </a:solidFill>
          <a:ln w="12700">
            <a:solidFill>
              <a:srgbClr val="C98A2C"/>
            </a:solidFill>
            <a:prstDash val="solid"/>
          </a:ln>
        </p:spPr>
      </p:sp>
      <p:pic>
        <p:nvPicPr>
          <p:cNvPr id="17" name="Image 4" descr="/home/claude/assets/icons/rocket_go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4828032"/>
            <a:ext cx="310896" cy="310896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691640" y="4572000"/>
            <a:ext cx="9326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1 begins with source discovery and raw-data ingestion into PostgreSQL staging tables.</a:t>
            </a:r>
            <a:endParaRPr lang="en-US" sz="1400" dirty="0"/>
          </a:p>
        </p:txBody>
      </p:sp>
      <p:sp>
        <p:nvSpPr>
          <p:cNvPr id="19" name="Text 12"/>
          <p:cNvSpPr/>
          <p:nvPr/>
        </p:nvSpPr>
        <p:spPr>
          <a:xfrm>
            <a:off x="457200" y="6492240"/>
            <a:ext cx="8503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Procurement Data Platform   ·   ABC Global Manufacturing Ltd.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989</Words>
  <Application>Microsoft Office PowerPoint</Application>
  <PresentationFormat>Widescreen</PresentationFormat>
  <Paragraphs>189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jaheen jallaludin</cp:lastModifiedBy>
  <cp:revision>3</cp:revision>
  <dcterms:created xsi:type="dcterms:W3CDTF">2026-08-19T18:39:03Z</dcterms:created>
  <dcterms:modified xsi:type="dcterms:W3CDTF">2026-08-20T01:26:21Z</dcterms:modified>
</cp:coreProperties>
</file>