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8" d="100"/>
          <a:sy n="78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783816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7452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98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UC13  ·  ENTERPRISE DATA ENGINEERING 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2240280"/>
            <a:ext cx="1036015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Procurement Data Platform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9F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 — Data Discovery &amp; Ingestion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932688" y="4160520"/>
            <a:ext cx="2011680" cy="0"/>
          </a:xfrm>
          <a:prstGeom prst="line">
            <a:avLst/>
          </a:prstGeom>
          <a:noFill/>
          <a:ln w="25400">
            <a:solidFill>
              <a:srgbClr val="C98A2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86688" y="4892040"/>
            <a:ext cx="2926080" cy="1051560"/>
          </a:xfrm>
          <a:prstGeom prst="roundRect">
            <a:avLst>
              <a:gd name="adj" fmla="val 6957"/>
            </a:avLst>
          </a:prstGeom>
          <a:solidFill>
            <a:srgbClr val="243B57"/>
          </a:solidFill>
          <a:ln/>
        </p:spPr>
      </p:sp>
      <p:pic>
        <p:nvPicPr>
          <p:cNvPr id="7" name="Image 0" descr="/home/claude/assets/icons/plug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5288" y="5111496"/>
            <a:ext cx="310896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15288" y="53949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formats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615288" y="571500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F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CSV, Excel, JSON, XML, SQL ingested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632808" y="4892040"/>
            <a:ext cx="2926080" cy="1051560"/>
          </a:xfrm>
          <a:prstGeom prst="roundRect">
            <a:avLst>
              <a:gd name="adj" fmla="val 6957"/>
            </a:avLst>
          </a:prstGeom>
          <a:solidFill>
            <a:srgbClr val="243B57"/>
          </a:solidFill>
          <a:ln/>
        </p:spPr>
      </p:sp>
      <p:pic>
        <p:nvPicPr>
          <p:cNvPr id="11" name="Image 1" descr="/home/claude/assets/icons/database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1408" y="5111496"/>
            <a:ext cx="310896" cy="31089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861408" y="53949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4861408" y="571500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F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datasets landed in staging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7878928" y="4892040"/>
            <a:ext cx="2926080" cy="1051560"/>
          </a:xfrm>
          <a:prstGeom prst="roundRect">
            <a:avLst>
              <a:gd name="adj" fmla="val 6957"/>
            </a:avLst>
          </a:prstGeom>
          <a:solidFill>
            <a:srgbClr val="243B57"/>
          </a:solidFill>
          <a:ln/>
        </p:spPr>
      </p:sp>
      <p:pic>
        <p:nvPicPr>
          <p:cNvPr id="15" name="Image 2" descr="/home/claude/assets/icons/shield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7528" y="5111496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107528" y="53949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8107528" y="571500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FB4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reconciled with audit logs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914400" y="635508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F8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 Global Manufacturing Ltd.   ·   Sprint Presentation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475488" cy="475488"/>
          </a:xfrm>
          <a:prstGeom prst="ellipse">
            <a:avLst/>
          </a:prstGeom>
          <a:solidFill>
            <a:srgbClr val="1B2A41"/>
          </a:solidFill>
          <a:ln/>
        </p:spPr>
      </p:sp>
      <p:pic>
        <p:nvPicPr>
          <p:cNvPr id="3" name="Image 0" descr="/home/claude/assets/icons/plu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20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1: Purpose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1097280" y="777240"/>
            <a:ext cx="9692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Procurement Raw Data Landing Zone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8988552" y="411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C98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649224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Procurement Data Platform   ·   ABC Global Manufacturing Ltd.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48640" y="1709928"/>
            <a:ext cx="365760" cy="36576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9" name="Image 1" descr="/home/claude/assets/icons/serv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1810512"/>
            <a:ext cx="164592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97280" y="1691640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and document enterprise source systems</a:t>
            </a:r>
            <a:endParaRPr lang="en-US" dirty="0"/>
          </a:p>
        </p:txBody>
      </p:sp>
      <p:sp>
        <p:nvSpPr>
          <p:cNvPr id="11" name="Shape 7"/>
          <p:cNvSpPr/>
          <p:nvPr/>
        </p:nvSpPr>
        <p:spPr>
          <a:xfrm>
            <a:off x="548640" y="2487168"/>
            <a:ext cx="365760" cy="36576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2" name="Image 2" descr="/home/claude/assets/icons/tab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" y="2587752"/>
            <a:ext cx="164592" cy="16459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97280" y="2468880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datasets, columns, data types, keys, and business meanings</a:t>
            </a:r>
            <a:endParaRPr lang="en-US" dirty="0"/>
          </a:p>
        </p:txBody>
      </p:sp>
      <p:sp>
        <p:nvSpPr>
          <p:cNvPr id="14" name="Shape 9"/>
          <p:cNvSpPr/>
          <p:nvPr/>
        </p:nvSpPr>
        <p:spPr>
          <a:xfrm>
            <a:off x="548640" y="3264408"/>
            <a:ext cx="365760" cy="36576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5" name="Image 3" descr="/home/claude/assets/icons/plu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3364992"/>
            <a:ext cx="164592" cy="16459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097280" y="3186684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heterogeneous data using Pentaho</a:t>
            </a:r>
            <a:endParaRPr lang="en-US" dirty="0"/>
          </a:p>
        </p:txBody>
      </p:sp>
      <p:sp>
        <p:nvSpPr>
          <p:cNvPr id="17" name="Shape 11"/>
          <p:cNvSpPr/>
          <p:nvPr/>
        </p:nvSpPr>
        <p:spPr>
          <a:xfrm>
            <a:off x="548640" y="4041648"/>
            <a:ext cx="365760" cy="36576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8" name="Image 4" descr="/home/claude/assets/icons/databas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" y="4142232"/>
            <a:ext cx="164592" cy="16459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097280" y="4023360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raw data into PostgreSQL staging tables</a:t>
            </a:r>
            <a:endParaRPr lang="en-US" dirty="0"/>
          </a:p>
        </p:txBody>
      </p:sp>
      <p:sp>
        <p:nvSpPr>
          <p:cNvPr id="20" name="Shape 13"/>
          <p:cNvSpPr/>
          <p:nvPr/>
        </p:nvSpPr>
        <p:spPr>
          <a:xfrm>
            <a:off x="548640" y="4818888"/>
            <a:ext cx="365760" cy="36576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21" name="Image 5" descr="/home/claude/assets/icons/git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224" y="4919472"/>
            <a:ext cx="164592" cy="164592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097280" y="4800600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basic logging, exception handling, and Git commits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475488" cy="475488"/>
          </a:xfrm>
          <a:prstGeom prst="ellipse">
            <a:avLst/>
          </a:prstGeom>
          <a:solidFill>
            <a:srgbClr val="1B2A41"/>
          </a:solidFill>
          <a:ln/>
        </p:spPr>
      </p:sp>
      <p:pic>
        <p:nvPicPr>
          <p:cNvPr id="3" name="Image 0" descr="/home/claude/assets/icons/serve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29005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Systems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1097280" y="777240"/>
            <a:ext cx="9692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procurement data originates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8988552" y="411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C98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649224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Procurement Data Platform   ·   ABC Global Manufacturing Ltd.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349824"/>
              </p:ext>
            </p:extLst>
          </p:nvPr>
        </p:nvGraphicFramePr>
        <p:xfrm>
          <a:off x="457200" y="1600200"/>
          <a:ext cx="11274552" cy="443484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68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2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system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 data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Procurement Management 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orders, procurement transactions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Requisition 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Requests, departments, required dates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Supplier, product, financial and purchasing master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Portal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Supplier details, confirmations, delivery information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WMS / Inventory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Receipts, stock, warehouses, capacity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Accounts Payable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Invoices, payments, due dates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 Management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Contracts, terms, values, validity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Supplier Performance Database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Delivery, quality, ratings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475488" cy="475488"/>
          </a:xfrm>
          <a:prstGeom prst="ellipse">
            <a:avLst/>
          </a:prstGeom>
          <a:solidFill>
            <a:srgbClr val="1B2A41"/>
          </a:solidFill>
          <a:ln/>
        </p:spPr>
      </p:sp>
      <p:pic>
        <p:nvPicPr>
          <p:cNvPr id="3" name="Image 0" descr="/home/claude/assets/icons/cod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20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Heterogeneous Data Ingestion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1097280" y="777240"/>
            <a:ext cx="9692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Demonstrating different source formats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8988552" y="411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C98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649224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Procurement Data Platform   ·   ABC Global Manufacturing Ltd.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3242105"/>
              </p:ext>
            </p:extLst>
          </p:nvPr>
        </p:nvGraphicFramePr>
        <p:xfrm>
          <a:off x="619432" y="1691640"/>
          <a:ext cx="11112320" cy="2590800"/>
        </p:xfrm>
        <a:graphic>
          <a:graphicData uri="http://schemas.openxmlformats.org/drawingml/2006/table">
            <a:tbl>
              <a:tblPr/>
              <a:tblGrid>
                <a:gridCol w="19408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56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Possible dataset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Pentaho input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Suppliers, contracts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 File Input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orders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 err="1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Mircrosoft</a:t>
                      </a: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Excel Input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Inventory ,warehouse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Input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8696319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latin typeface="Calibri" charset="0"/>
                          <a:ea typeface="Calibri" charset="0"/>
                          <a:cs typeface="Calibri" charset="0"/>
                        </a:rPr>
                        <a:t>XML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Invoices or AP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Data from XML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9184018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57352" y="4996754"/>
            <a:ext cx="11277295" cy="685800"/>
          </a:xfrm>
          <a:prstGeom prst="roundRect">
            <a:avLst>
              <a:gd name="adj" fmla="val 10667"/>
            </a:avLst>
          </a:prstGeom>
          <a:solidFill>
            <a:srgbClr val="EAEFF3"/>
          </a:solidFill>
          <a:ln/>
        </p:spPr>
      </p:sp>
      <p:sp>
        <p:nvSpPr>
          <p:cNvPr id="10" name="Text 6"/>
          <p:cNvSpPr/>
          <p:nvPr/>
        </p:nvSpPr>
        <p:spPr>
          <a:xfrm>
            <a:off x="777240" y="507492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formats deliberately proves the pipeline can handle real enterprise heterogeneity, not just one clean file type.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475488" cy="475488"/>
          </a:xfrm>
          <a:prstGeom prst="ellipse">
            <a:avLst/>
          </a:prstGeom>
          <a:solidFill>
            <a:srgbClr val="1B2A41"/>
          </a:solidFill>
          <a:ln/>
        </p:spPr>
      </p:sp>
      <p:pic>
        <p:nvPicPr>
          <p:cNvPr id="3" name="Image 0" descr="/home/claude/assets/icons/databas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20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Inventory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1097280" y="777240"/>
            <a:ext cx="9692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datasets for the landing zone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8988552" y="411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C98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649224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Procurement Data Platform   ·   ABC Global Manufacturing Ltd.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7168356"/>
              </p:ext>
            </p:extLst>
          </p:nvPr>
        </p:nvGraphicFramePr>
        <p:xfrm>
          <a:off x="457200" y="1600200"/>
          <a:ext cx="11274552" cy="443484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192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2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examples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orders / transactions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PO_ID, Supplier_ID, Product_ID, Quantity, Amount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requisitions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Requisition_ID, Department_ID, Required_Date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Supplier_ID, Name, Country, Rating, Status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Supplier performance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Supplier_ID, PO_ID, Quality, Delivery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Product_ID, Category, Cost, Reorder_Level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Inventory / warehouse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Product_ID, Warehouse_ID, Stock_Quantity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Invoices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Invoice_ID, PO_ID, Amount, Payment_Status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Contract_ID, Supplier_ID, Start_Date, End_Date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475488" cy="475488"/>
          </a:xfrm>
          <a:prstGeom prst="ellipse">
            <a:avLst/>
          </a:prstGeom>
          <a:solidFill>
            <a:srgbClr val="1B2A41"/>
          </a:solidFill>
          <a:ln/>
        </p:spPr>
      </p:sp>
      <p:pic>
        <p:nvPicPr>
          <p:cNvPr id="3" name="Image 0" descr="/home/claude/assets/icons/clipboar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20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Dictionary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1097280" y="777240"/>
            <a:ext cx="9692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must be documented for every dataset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8988552" y="411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C98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DICTIONARY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649224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Procurement Data Platform   ·   ABC Global Manufacturing Ltd.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852161"/>
              </p:ext>
            </p:extLst>
          </p:nvPr>
        </p:nvGraphicFramePr>
        <p:xfrm>
          <a:off x="457200" y="1600200"/>
          <a:ext cx="11274552" cy="4434840"/>
        </p:xfrm>
        <a:graphic>
          <a:graphicData uri="http://schemas.openxmlformats.org/drawingml/2006/table">
            <a:tbl>
              <a:tblPr/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255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2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 / table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 name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Supplier_ID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type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VARCHAR(50)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Nullable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type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definition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supplier identifier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system / file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Portal / suppliers.csv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2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Transformation notes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 whitespace; standardize format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475488" cy="475488"/>
          </a:xfrm>
          <a:prstGeom prst="ellipse">
            <a:avLst/>
          </a:prstGeom>
          <a:solidFill>
            <a:srgbClr val="1B2A41"/>
          </a:solidFill>
          <a:ln/>
        </p:spPr>
      </p:sp>
      <p:pic>
        <p:nvPicPr>
          <p:cNvPr id="3" name="Image 0" descr="/home/claude/assets/icons/workflow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20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 Architecture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1097280" y="777240"/>
            <a:ext cx="9692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raw-data ingestion flow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8988552" y="411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C98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649224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Procurement Data Platform   ·   ABC Global Manufacturing Ltd.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57200" y="5567079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Sprint 1, the focus is reliable ingestion and raw landing — not final analytics.</a:t>
            </a:r>
            <a:endParaRPr lang="en-US" sz="14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15E2E0A-0406-CB5F-333D-1D1A7E86F42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299"/>
          <a:stretch>
            <a:fillRect/>
          </a:stretch>
        </p:blipFill>
        <p:spPr>
          <a:xfrm>
            <a:off x="573740" y="1367747"/>
            <a:ext cx="11201453" cy="386764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475488" cy="475488"/>
          </a:xfrm>
          <a:prstGeom prst="ellipse">
            <a:avLst/>
          </a:prstGeom>
          <a:solidFill>
            <a:srgbClr val="1B2A41"/>
          </a:solidFill>
          <a:ln/>
        </p:spPr>
      </p:sp>
      <p:pic>
        <p:nvPicPr>
          <p:cNvPr id="3" name="Image 0" descr="/home/claude/assets/icons/folde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20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Bronze and Staging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1097280" y="777240"/>
            <a:ext cx="9692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to raw data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8988552" y="411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C98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649224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Procurement Data Platform   ·   ABC Global Manufacturing Ltd.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48640" y="1709928"/>
            <a:ext cx="365760" cy="36576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9" name="Image 1" descr="/home/claude/assets/icons/folde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1810512"/>
            <a:ext cx="164592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97280" y="1673352"/>
            <a:ext cx="10149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Preserve, don’t transform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1097280" y="1947672"/>
            <a:ext cx="10149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keeps source data in its original form for traceability and reprocessing.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48640" y="2670048"/>
            <a:ext cx="365760" cy="36576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3" name="Image 2" descr="/home/claude/assets/icons/databas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2770632"/>
            <a:ext cx="164592" cy="1645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97280" y="2633472"/>
            <a:ext cx="10149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landing area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1097280" y="2907792"/>
            <a:ext cx="10149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tables give each source domain its own controlled PostgreSQL landing zone.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548640" y="3630168"/>
            <a:ext cx="365760" cy="36576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7" name="Image 3" descr="/home/claude/assets/icons/tab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" y="3730752"/>
            <a:ext cx="164592" cy="16459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97280" y="3593592"/>
            <a:ext cx="10149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tables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1097280" y="3867912"/>
            <a:ext cx="10149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supplier_staging, procurement_staging, inventory_staging, invoice_staging.</a:t>
            </a:r>
            <a:endParaRPr lang="en-US" sz="1600" dirty="0"/>
          </a:p>
        </p:txBody>
      </p:sp>
      <p:sp>
        <p:nvSpPr>
          <p:cNvPr id="20" name="Shape 14"/>
          <p:cNvSpPr/>
          <p:nvPr/>
        </p:nvSpPr>
        <p:spPr>
          <a:xfrm>
            <a:off x="548640" y="4590288"/>
            <a:ext cx="365760" cy="36576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21" name="Image 4" descr="/home/claude/assets/icons/alert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" y="4690872"/>
            <a:ext cx="164592" cy="16459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97280" y="4553712"/>
            <a:ext cx="10149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heavy logic yet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1097280" y="4828032"/>
            <a:ext cx="10149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applying business rules before the raw data is safely captured.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475488" cy="475488"/>
          </a:xfrm>
          <a:prstGeom prst="ellipse">
            <a:avLst/>
          </a:prstGeom>
          <a:solidFill>
            <a:srgbClr val="1B2A41"/>
          </a:solidFill>
          <a:ln/>
        </p:spPr>
      </p:sp>
      <p:pic>
        <p:nvPicPr>
          <p:cNvPr id="3" name="Image 0" descr="/home/claude/assets/icons/workflow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20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Pentaho Transformation Flow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1097280" y="777240"/>
            <a:ext cx="9692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one ingestion pipeline works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8988552" y="411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C98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FLOW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649224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Procurement Data Platform   ·   ABC Global Manufacturing Ltd.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351033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components: CSV / Excel / JSON / XML / Table Input, Select Values, String Operations, Filter Rows, Data Validator, and Table Output.</a:t>
            </a:r>
            <a:endParaRPr lang="en-US" sz="13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9816630E-79C1-66D5-4413-B2CF1DFE1EB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947"/>
          <a:stretch>
            <a:fillRect/>
          </a:stretch>
        </p:blipFill>
        <p:spPr>
          <a:xfrm>
            <a:off x="494308" y="1234440"/>
            <a:ext cx="11237444" cy="375997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475488" cy="475488"/>
          </a:xfrm>
          <a:prstGeom prst="ellipse">
            <a:avLst/>
          </a:prstGeom>
          <a:solidFill>
            <a:srgbClr val="1B2A41"/>
          </a:solidFill>
          <a:ln/>
        </p:spPr>
      </p:sp>
      <p:pic>
        <p:nvPicPr>
          <p:cNvPr id="3" name="Image 0" descr="/home/claude/assets/icons/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20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Basic Ingestion Rules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1097280" y="777240"/>
            <a:ext cx="9692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performed during Sprint 1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8988552" y="411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C98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649224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Procurement Data Platform   ·   ABC Global Manufacturing Ltd.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48640" y="1709928"/>
            <a:ext cx="365760" cy="36576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9" name="Image 1" descr="/home/claude/assets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1810512"/>
            <a:ext cx="164592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97280" y="1691640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fields are identified and mapped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2" name="Image 2" descr="/home/claude/assets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2523744"/>
            <a:ext cx="164592" cy="16459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97280" y="2404872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names and data types are standardized for staging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548640" y="3136392"/>
            <a:ext cx="365760" cy="36576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5" name="Image 3" descr="/home/claude/assets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3236976"/>
            <a:ext cx="164592" cy="16459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097280" y="3118104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Dates, quantities, prices, and identifiers are parsed consistently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548640" y="3849624"/>
            <a:ext cx="365760" cy="36576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8" name="Image 4" descr="/home/claude/assets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3950208"/>
            <a:ext cx="164592" cy="16459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097280" y="3831336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file names and ingestion timestamps are retained</a:t>
            </a:r>
            <a:endParaRPr lang="en-US" sz="1600" dirty="0"/>
          </a:p>
        </p:txBody>
      </p:sp>
      <p:sp>
        <p:nvSpPr>
          <p:cNvPr id="20" name="Shape 13"/>
          <p:cNvSpPr/>
          <p:nvPr/>
        </p:nvSpPr>
        <p:spPr>
          <a:xfrm>
            <a:off x="548640" y="4562856"/>
            <a:ext cx="365760" cy="36576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21" name="Image 5" descr="/home/claude/assets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4663440"/>
            <a:ext cx="164592" cy="164592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1097280" y="4544568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Unreadable files and malformed records are captured as exceptions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475488" cy="475488"/>
          </a:xfrm>
          <a:prstGeom prst="ellipse">
            <a:avLst/>
          </a:prstGeom>
          <a:solidFill>
            <a:srgbClr val="1B2A41"/>
          </a:solidFill>
          <a:ln/>
        </p:spPr>
      </p:sp>
      <p:pic>
        <p:nvPicPr>
          <p:cNvPr id="3" name="Image 0" descr="/home/claude/assets/icons/bu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20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Logging and Exception Handling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1097280" y="777240"/>
            <a:ext cx="9692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ingestion observable and recoverable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8988552" y="411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C98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649224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Procurement Data Platform   ·   ABC Global Manufacturing Ltd.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9616339"/>
              </p:ext>
            </p:extLst>
          </p:nvPr>
        </p:nvGraphicFramePr>
        <p:xfrm>
          <a:off x="457200" y="1645920"/>
          <a:ext cx="11274552" cy="411480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68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field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Job_ID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Identify one execution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Source_File / Source_System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 origin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Start_Time / End_Time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 execution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Records_Read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 input records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Records_Loaded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 successful staging rows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Records_Rejected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 failures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/ Error_Message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6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outcome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475488" cy="475488"/>
          </a:xfrm>
          <a:prstGeom prst="ellipse">
            <a:avLst/>
          </a:prstGeom>
          <a:solidFill>
            <a:srgbClr val="1B2A41"/>
          </a:solidFill>
          <a:ln/>
        </p:spPr>
      </p:sp>
      <p:pic>
        <p:nvPicPr>
          <p:cNvPr id="3" name="Image 0" descr="/home/claude/assets/icons/refresh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20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Reconciliation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1097280" y="777240"/>
            <a:ext cx="9692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Proving that records are accounted for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8988552" y="411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C98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649224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Procurement Data Platform   ·   ABC Global Manufacturing Ltd.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1691640"/>
            <a:ext cx="2579294" cy="777240"/>
          </a:xfrm>
          <a:prstGeom prst="roundRect">
            <a:avLst>
              <a:gd name="adj" fmla="val 8235"/>
            </a:avLst>
          </a:prstGeom>
          <a:solidFill>
            <a:srgbClr val="3E6680"/>
          </a:solidFill>
          <a:ln/>
        </p:spPr>
      </p:sp>
      <p:sp>
        <p:nvSpPr>
          <p:cNvPr id="9" name="Text 6"/>
          <p:cNvSpPr/>
          <p:nvPr/>
        </p:nvSpPr>
        <p:spPr>
          <a:xfrm>
            <a:off x="530352" y="1691640"/>
            <a:ext cx="243299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records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036494" y="1997964"/>
            <a:ext cx="265176" cy="164592"/>
          </a:xfrm>
          <a:prstGeom prst="chevron">
            <a:avLst/>
          </a:prstGeom>
          <a:solidFill>
            <a:srgbClr val="C98A2C"/>
          </a:solidFill>
          <a:ln/>
        </p:spPr>
      </p:sp>
      <p:sp>
        <p:nvSpPr>
          <p:cNvPr id="11" name="Shape 8"/>
          <p:cNvSpPr/>
          <p:nvPr/>
        </p:nvSpPr>
        <p:spPr>
          <a:xfrm>
            <a:off x="3356534" y="1691640"/>
            <a:ext cx="2579294" cy="777240"/>
          </a:xfrm>
          <a:prstGeom prst="roundRect">
            <a:avLst>
              <a:gd name="adj" fmla="val 8235"/>
            </a:avLst>
          </a:prstGeom>
          <a:solidFill>
            <a:srgbClr val="3E6680"/>
          </a:solidFill>
          <a:ln/>
        </p:spPr>
      </p:sp>
      <p:sp>
        <p:nvSpPr>
          <p:cNvPr id="12" name="Text 9"/>
          <p:cNvSpPr/>
          <p:nvPr/>
        </p:nvSpPr>
        <p:spPr>
          <a:xfrm>
            <a:off x="3429686" y="1691640"/>
            <a:ext cx="243299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records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935828" y="1997964"/>
            <a:ext cx="265176" cy="164592"/>
          </a:xfrm>
          <a:prstGeom prst="chevron">
            <a:avLst/>
          </a:prstGeom>
          <a:solidFill>
            <a:srgbClr val="C98A2C"/>
          </a:solidFill>
          <a:ln/>
        </p:spPr>
      </p:sp>
      <p:sp>
        <p:nvSpPr>
          <p:cNvPr id="14" name="Shape 11"/>
          <p:cNvSpPr/>
          <p:nvPr/>
        </p:nvSpPr>
        <p:spPr>
          <a:xfrm>
            <a:off x="6255868" y="1691640"/>
            <a:ext cx="2579294" cy="777240"/>
          </a:xfrm>
          <a:prstGeom prst="roundRect">
            <a:avLst>
              <a:gd name="adj" fmla="val 8235"/>
            </a:avLst>
          </a:prstGeom>
          <a:solidFill>
            <a:srgbClr val="3E6680"/>
          </a:solidFill>
          <a:ln/>
        </p:spPr>
      </p:sp>
      <p:sp>
        <p:nvSpPr>
          <p:cNvPr id="15" name="Text 12"/>
          <p:cNvSpPr/>
          <p:nvPr/>
        </p:nvSpPr>
        <p:spPr>
          <a:xfrm>
            <a:off x="6329020" y="1691640"/>
            <a:ext cx="243299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records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8835161" y="1997964"/>
            <a:ext cx="265176" cy="164592"/>
          </a:xfrm>
          <a:prstGeom prst="chevron">
            <a:avLst/>
          </a:prstGeom>
          <a:solidFill>
            <a:srgbClr val="C98A2C"/>
          </a:solidFill>
          <a:ln/>
        </p:spPr>
      </p:sp>
      <p:sp>
        <p:nvSpPr>
          <p:cNvPr id="17" name="Shape 14"/>
          <p:cNvSpPr/>
          <p:nvPr/>
        </p:nvSpPr>
        <p:spPr>
          <a:xfrm>
            <a:off x="9155201" y="1691640"/>
            <a:ext cx="2579294" cy="777240"/>
          </a:xfrm>
          <a:prstGeom prst="roundRect">
            <a:avLst>
              <a:gd name="adj" fmla="val 8235"/>
            </a:avLst>
          </a:prstGeom>
          <a:solidFill>
            <a:srgbClr val="3E6680"/>
          </a:solidFill>
          <a:ln/>
        </p:spPr>
      </p:sp>
      <p:sp>
        <p:nvSpPr>
          <p:cNvPr id="18" name="Text 15"/>
          <p:cNvSpPr/>
          <p:nvPr/>
        </p:nvSpPr>
        <p:spPr>
          <a:xfrm>
            <a:off x="9228353" y="1691640"/>
            <a:ext cx="243299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check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57200" y="3063240"/>
            <a:ext cx="11277295" cy="868680"/>
          </a:xfrm>
          <a:prstGeom prst="roundRect">
            <a:avLst>
              <a:gd name="adj" fmla="val 8421"/>
            </a:avLst>
          </a:prstGeom>
          <a:solidFill>
            <a:srgbClr val="1B2A41"/>
          </a:solidFill>
          <a:ln/>
        </p:spPr>
      </p:sp>
      <p:pic>
        <p:nvPicPr>
          <p:cNvPr id="20" name="Image 1" descr="/home/claude/assets/icons/chart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310128"/>
            <a:ext cx="365760" cy="3657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325880" y="3063240"/>
            <a:ext cx="9966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5,000 read  =  4,975 loaded  +  25 rejected</a:t>
            </a:r>
            <a:endParaRPr lang="en-US" sz="1800" dirty="0"/>
          </a:p>
        </p:txBody>
      </p:sp>
      <p:sp>
        <p:nvSpPr>
          <p:cNvPr id="22" name="Text 18"/>
          <p:cNvSpPr/>
          <p:nvPr/>
        </p:nvSpPr>
        <p:spPr>
          <a:xfrm>
            <a:off x="457200" y="42062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records should never simply disappear — store the reason and source reference for investigation, so every input record is accounted for.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475488" cy="475488"/>
          </a:xfrm>
          <a:prstGeom prst="ellipse">
            <a:avLst/>
          </a:prstGeom>
          <a:solidFill>
            <a:srgbClr val="1B2A41"/>
          </a:solidFill>
          <a:ln/>
        </p:spPr>
      </p:sp>
      <p:pic>
        <p:nvPicPr>
          <p:cNvPr id="3" name="Image 0" descr="/home/claude/assets/icons/gi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20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Collaboration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1097280" y="777240"/>
            <a:ext cx="9692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Sprint 1 work is recorded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8988552" y="411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C98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649224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Procurement Data Platform   ·   ABC Global Manufacturing Ltd.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1828800"/>
            <a:ext cx="1612849" cy="868680"/>
          </a:xfrm>
          <a:prstGeom prst="roundRect">
            <a:avLst>
              <a:gd name="adj" fmla="val 7368"/>
            </a:avLst>
          </a:prstGeom>
          <a:solidFill>
            <a:srgbClr val="3E6680"/>
          </a:solidFill>
          <a:ln/>
        </p:spPr>
      </p:sp>
      <p:sp>
        <p:nvSpPr>
          <p:cNvPr id="9" name="Text 6"/>
          <p:cNvSpPr/>
          <p:nvPr/>
        </p:nvSpPr>
        <p:spPr>
          <a:xfrm>
            <a:off x="530352" y="1828800"/>
            <a:ext cx="146654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branch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2070049" y="2180844"/>
            <a:ext cx="265176" cy="164592"/>
          </a:xfrm>
          <a:prstGeom prst="chevron">
            <a:avLst/>
          </a:prstGeom>
          <a:solidFill>
            <a:srgbClr val="C98A2C"/>
          </a:solidFill>
          <a:ln/>
        </p:spPr>
      </p:sp>
      <p:sp>
        <p:nvSpPr>
          <p:cNvPr id="11" name="Shape 8"/>
          <p:cNvSpPr/>
          <p:nvPr/>
        </p:nvSpPr>
        <p:spPr>
          <a:xfrm>
            <a:off x="2390089" y="1828800"/>
            <a:ext cx="1612849" cy="868680"/>
          </a:xfrm>
          <a:prstGeom prst="roundRect">
            <a:avLst>
              <a:gd name="adj" fmla="val 7368"/>
            </a:avLst>
          </a:prstGeom>
          <a:solidFill>
            <a:srgbClr val="3E6680"/>
          </a:solidFill>
          <a:ln/>
        </p:spPr>
      </p:sp>
      <p:sp>
        <p:nvSpPr>
          <p:cNvPr id="12" name="Text 9"/>
          <p:cNvSpPr/>
          <p:nvPr/>
        </p:nvSpPr>
        <p:spPr>
          <a:xfrm>
            <a:off x="2463241" y="1828800"/>
            <a:ext cx="146654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pipeline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002938" y="2180844"/>
            <a:ext cx="265176" cy="164592"/>
          </a:xfrm>
          <a:prstGeom prst="chevron">
            <a:avLst/>
          </a:prstGeom>
          <a:solidFill>
            <a:srgbClr val="C98A2C"/>
          </a:solidFill>
          <a:ln/>
        </p:spPr>
      </p:sp>
      <p:sp>
        <p:nvSpPr>
          <p:cNvPr id="14" name="Shape 11"/>
          <p:cNvSpPr/>
          <p:nvPr/>
        </p:nvSpPr>
        <p:spPr>
          <a:xfrm>
            <a:off x="4322978" y="1828800"/>
            <a:ext cx="1612849" cy="868680"/>
          </a:xfrm>
          <a:prstGeom prst="roundRect">
            <a:avLst>
              <a:gd name="adj" fmla="val 7368"/>
            </a:avLst>
          </a:prstGeom>
          <a:solidFill>
            <a:srgbClr val="3E6680"/>
          </a:solidFill>
          <a:ln/>
        </p:spPr>
      </p:sp>
      <p:sp>
        <p:nvSpPr>
          <p:cNvPr id="15" name="Text 12"/>
          <p:cNvSpPr/>
          <p:nvPr/>
        </p:nvSpPr>
        <p:spPr>
          <a:xfrm>
            <a:off x="4396130" y="1828800"/>
            <a:ext cx="146654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ingestion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935828" y="2180844"/>
            <a:ext cx="265176" cy="164592"/>
          </a:xfrm>
          <a:prstGeom prst="chevron">
            <a:avLst/>
          </a:prstGeom>
          <a:solidFill>
            <a:srgbClr val="C98A2C"/>
          </a:solidFill>
          <a:ln/>
        </p:spPr>
      </p:sp>
      <p:sp>
        <p:nvSpPr>
          <p:cNvPr id="17" name="Shape 14"/>
          <p:cNvSpPr/>
          <p:nvPr/>
        </p:nvSpPr>
        <p:spPr>
          <a:xfrm>
            <a:off x="6255868" y="1828800"/>
            <a:ext cx="1612849" cy="868680"/>
          </a:xfrm>
          <a:prstGeom prst="roundRect">
            <a:avLst>
              <a:gd name="adj" fmla="val 7368"/>
            </a:avLst>
          </a:prstGeom>
          <a:solidFill>
            <a:srgbClr val="3E6680"/>
          </a:solidFill>
          <a:ln/>
        </p:spPr>
      </p:sp>
      <p:sp>
        <p:nvSpPr>
          <p:cNvPr id="18" name="Text 15"/>
          <p:cNvSpPr/>
          <p:nvPr/>
        </p:nvSpPr>
        <p:spPr>
          <a:xfrm>
            <a:off x="6329020" y="1828800"/>
            <a:ext cx="146654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changes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868717" y="2180844"/>
            <a:ext cx="265176" cy="164592"/>
          </a:xfrm>
          <a:prstGeom prst="chevron">
            <a:avLst/>
          </a:prstGeom>
          <a:solidFill>
            <a:srgbClr val="C98A2C"/>
          </a:solidFill>
          <a:ln/>
        </p:spPr>
      </p:sp>
      <p:sp>
        <p:nvSpPr>
          <p:cNvPr id="20" name="Shape 17"/>
          <p:cNvSpPr/>
          <p:nvPr/>
        </p:nvSpPr>
        <p:spPr>
          <a:xfrm>
            <a:off x="8188757" y="1828800"/>
            <a:ext cx="1612849" cy="868680"/>
          </a:xfrm>
          <a:prstGeom prst="roundRect">
            <a:avLst>
              <a:gd name="adj" fmla="val 7368"/>
            </a:avLst>
          </a:prstGeom>
          <a:solidFill>
            <a:srgbClr val="3E6680"/>
          </a:solidFill>
          <a:ln/>
        </p:spPr>
      </p:sp>
      <p:sp>
        <p:nvSpPr>
          <p:cNvPr id="21" name="Text 18"/>
          <p:cNvSpPr/>
          <p:nvPr/>
        </p:nvSpPr>
        <p:spPr>
          <a:xfrm>
            <a:off x="8261909" y="1828800"/>
            <a:ext cx="146654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 GitHub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9801606" y="2180844"/>
            <a:ext cx="265176" cy="164592"/>
          </a:xfrm>
          <a:prstGeom prst="chevron">
            <a:avLst/>
          </a:prstGeom>
          <a:solidFill>
            <a:srgbClr val="C98A2C"/>
          </a:solidFill>
          <a:ln/>
        </p:spPr>
      </p:sp>
      <p:sp>
        <p:nvSpPr>
          <p:cNvPr id="23" name="Shape 20"/>
          <p:cNvSpPr/>
          <p:nvPr/>
        </p:nvSpPr>
        <p:spPr>
          <a:xfrm>
            <a:off x="10121646" y="1828800"/>
            <a:ext cx="1612849" cy="868680"/>
          </a:xfrm>
          <a:prstGeom prst="roundRect">
            <a:avLst>
              <a:gd name="adj" fmla="val 7368"/>
            </a:avLst>
          </a:prstGeom>
          <a:solidFill>
            <a:srgbClr val="3E6680"/>
          </a:solidFill>
          <a:ln/>
        </p:spPr>
      </p:sp>
      <p:sp>
        <p:nvSpPr>
          <p:cNvPr id="24" name="Text 21"/>
          <p:cNvSpPr/>
          <p:nvPr/>
        </p:nvSpPr>
        <p:spPr>
          <a:xfrm>
            <a:off x="10194798" y="1828800"/>
            <a:ext cx="146654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/ merge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457200" y="315468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Pentaho transformations, SQL scripts, Python utilities, documentation, and sample configuration — never passwords or database credentials.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475488" cy="475488"/>
          </a:xfrm>
          <a:prstGeom prst="ellipse">
            <a:avLst/>
          </a:prstGeom>
          <a:solidFill>
            <a:srgbClr val="1B2A41"/>
          </a:solidFill>
          <a:ln/>
        </p:spPr>
      </p:sp>
      <p:pic>
        <p:nvPicPr>
          <p:cNvPr id="3" name="Image 0" descr="/home/claude/assets/icons/file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20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 Deliverables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1097280" y="777240"/>
            <a:ext cx="9692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must be submitted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8988552" y="411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C98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649224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Procurement Data Platform   ·   ABC Global Manufacturing Ltd.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1847088"/>
            <a:ext cx="292608" cy="292608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9" name="Image 1" descr="/home/claude/assets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20240"/>
            <a:ext cx="146304" cy="14630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1828800"/>
            <a:ext cx="108658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Inventory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414016"/>
            <a:ext cx="292608" cy="292608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2" name="Image 2" descr="/home/claude/assets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2487168"/>
            <a:ext cx="146304" cy="14630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68680" y="2395728"/>
            <a:ext cx="108658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Dictionary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2980944"/>
            <a:ext cx="292608" cy="292608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5" name="Image 3" descr="/home/claude/assets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3054096"/>
            <a:ext cx="146304" cy="14630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68680" y="2962656"/>
            <a:ext cx="108658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Pentaho ETL pipelines for the selected formats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57200" y="3547872"/>
            <a:ext cx="292608" cy="292608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8" name="Image 4" descr="/home/claude/assets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3621024"/>
            <a:ext cx="146304" cy="146304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68680" y="3529584"/>
            <a:ext cx="108658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staging database and table scripts</a:t>
            </a:r>
            <a:endParaRPr lang="en-US" sz="1250" dirty="0"/>
          </a:p>
        </p:txBody>
      </p:sp>
      <p:sp>
        <p:nvSpPr>
          <p:cNvPr id="20" name="Shape 13"/>
          <p:cNvSpPr/>
          <p:nvPr/>
        </p:nvSpPr>
        <p:spPr>
          <a:xfrm>
            <a:off x="457200" y="4114800"/>
            <a:ext cx="292608" cy="292608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21" name="Image 5" descr="/home/claude/assets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4187952"/>
            <a:ext cx="146304" cy="146304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868680" y="4096512"/>
            <a:ext cx="108658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ingestion logs and exception-handling evidence</a:t>
            </a:r>
            <a:endParaRPr lang="en-US" sz="1250" dirty="0"/>
          </a:p>
        </p:txBody>
      </p:sp>
      <p:sp>
        <p:nvSpPr>
          <p:cNvPr id="23" name="Shape 15"/>
          <p:cNvSpPr/>
          <p:nvPr/>
        </p:nvSpPr>
        <p:spPr>
          <a:xfrm>
            <a:off x="457200" y="4681728"/>
            <a:ext cx="292608" cy="292608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24" name="Image 6" descr="/home/claude/assets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4754880"/>
            <a:ext cx="146304" cy="146304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868680" y="4663440"/>
            <a:ext cx="108658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commit history and updated repository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475488" cy="475488"/>
          </a:xfrm>
          <a:prstGeom prst="ellipse">
            <a:avLst/>
          </a:prstGeom>
          <a:solidFill>
            <a:srgbClr val="1B2A41"/>
          </a:solidFill>
          <a:ln/>
        </p:spPr>
      </p:sp>
      <p:pic>
        <p:nvPicPr>
          <p:cNvPr id="3" name="Image 0" descr="/home/claude/assets/icons/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02920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20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 Success Criteria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1097280" y="777240"/>
            <a:ext cx="9692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can Sprint 1 be considered complete?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8988552" y="4114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C98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649224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Procurement Data Platform   ·   ABC Global Manufacturing Ltd.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57200" y="1847088"/>
            <a:ext cx="292608" cy="292608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9" name="Image 1" descr="/home/claude/assets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920240"/>
            <a:ext cx="146304" cy="14630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1828800"/>
            <a:ext cx="108658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selected source dataset has a documented owner, format, schema, and purpose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414016"/>
            <a:ext cx="292608" cy="292608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2" name="Image 2" descr="/home/claude/assets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2487168"/>
            <a:ext cx="146304" cy="14630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68680" y="2395728"/>
            <a:ext cx="108658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selected format can be read successfully through Pentaho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57200" y="2980944"/>
            <a:ext cx="292608" cy="292608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5" name="Image 3" descr="/home/claude/assets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3054096"/>
            <a:ext cx="146304" cy="14630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68680" y="2962656"/>
            <a:ext cx="108658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records are loaded into the correct PostgreSQL staging tables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457200" y="3547872"/>
            <a:ext cx="292608" cy="292608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8" name="Image 4" descr="/home/claude/assets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3621024"/>
            <a:ext cx="146304" cy="146304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68680" y="3529584"/>
            <a:ext cx="108658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counts can be reconciled</a:t>
            </a:r>
            <a:endParaRPr lang="en-US" sz="1250" dirty="0"/>
          </a:p>
        </p:txBody>
      </p:sp>
      <p:sp>
        <p:nvSpPr>
          <p:cNvPr id="20" name="Shape 13"/>
          <p:cNvSpPr/>
          <p:nvPr/>
        </p:nvSpPr>
        <p:spPr>
          <a:xfrm>
            <a:off x="457200" y="4114800"/>
            <a:ext cx="292608" cy="292608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21" name="Image 5" descr="/home/claude/assets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4187952"/>
            <a:ext cx="146304" cy="146304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868680" y="4096512"/>
            <a:ext cx="108658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are logged with meaningful error messages</a:t>
            </a:r>
            <a:endParaRPr lang="en-US" sz="1250" dirty="0"/>
          </a:p>
        </p:txBody>
      </p:sp>
      <p:sp>
        <p:nvSpPr>
          <p:cNvPr id="23" name="Shape 15"/>
          <p:cNvSpPr/>
          <p:nvPr/>
        </p:nvSpPr>
        <p:spPr>
          <a:xfrm>
            <a:off x="457200" y="4681728"/>
            <a:ext cx="292608" cy="292608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24" name="Image 6" descr="/home/claude/assets/icons/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4754880"/>
            <a:ext cx="146304" cy="146304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868680" y="4663440"/>
            <a:ext cx="108658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artifacts are committed to GitHub and ready for Sprint 2 profiling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03601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200" dirty="0">
                <a:solidFill>
                  <a:srgbClr val="C98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  ·  CONCLUSION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005840"/>
            <a:ext cx="10360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unknown source data to a controlled landing zone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32688" y="1993392"/>
            <a:ext cx="274320" cy="274320"/>
          </a:xfrm>
          <a:prstGeom prst="ellipse">
            <a:avLst/>
          </a:prstGeom>
          <a:solidFill>
            <a:srgbClr val="243B57"/>
          </a:solidFill>
          <a:ln/>
        </p:spPr>
      </p:sp>
      <p:pic>
        <p:nvPicPr>
          <p:cNvPr id="5" name="Image 0" descr="/home/claude/assets/icons/chec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2057400"/>
            <a:ext cx="146304" cy="1463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192024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D7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0 defined the business problem and target architecture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932688" y="2587752"/>
            <a:ext cx="274320" cy="274320"/>
          </a:xfrm>
          <a:prstGeom prst="ellipse">
            <a:avLst/>
          </a:prstGeom>
          <a:solidFill>
            <a:srgbClr val="243B57"/>
          </a:solidFill>
          <a:ln/>
        </p:spPr>
      </p:sp>
      <p:pic>
        <p:nvPicPr>
          <p:cNvPr id="8" name="Image 1" descr="/home/claude/assets/icons/chec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2651760"/>
            <a:ext cx="146304" cy="14630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251460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D7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 discovers the source data and establishes the ingestion foundation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932688" y="3182112"/>
            <a:ext cx="274320" cy="274320"/>
          </a:xfrm>
          <a:prstGeom prst="ellipse">
            <a:avLst/>
          </a:prstGeom>
          <a:solidFill>
            <a:srgbClr val="243B57"/>
          </a:solidFill>
          <a:ln/>
        </p:spPr>
      </p:sp>
      <p:pic>
        <p:nvPicPr>
          <p:cNvPr id="11" name="Image 2" descr="/home/claude/assets/icons/chec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3246120"/>
            <a:ext cx="146304" cy="14630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71600" y="310896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D7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will profile, clean, validate, and model the data warehouse</a:t>
            </a:r>
            <a:endParaRPr lang="en-US" sz="1450" dirty="0"/>
          </a:p>
        </p:txBody>
      </p:sp>
      <p:sp>
        <p:nvSpPr>
          <p:cNvPr id="13" name="Shape 8"/>
          <p:cNvSpPr/>
          <p:nvPr/>
        </p:nvSpPr>
        <p:spPr>
          <a:xfrm>
            <a:off x="932688" y="3776472"/>
            <a:ext cx="274320" cy="274320"/>
          </a:xfrm>
          <a:prstGeom prst="ellipse">
            <a:avLst/>
          </a:prstGeom>
          <a:solidFill>
            <a:srgbClr val="243B57"/>
          </a:solidFill>
          <a:ln/>
        </p:spPr>
      </p:sp>
      <p:pic>
        <p:nvPicPr>
          <p:cNvPr id="14" name="Image 3" descr="/home/claude/assets/icons/check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3840480"/>
            <a:ext cx="146304" cy="14630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371600" y="370332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D7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 will add lineage, governance, orchestration, and Power BI analytics</a:t>
            </a:r>
            <a:endParaRPr lang="en-US" sz="1450" dirty="0"/>
          </a:p>
        </p:txBody>
      </p:sp>
      <p:sp>
        <p:nvSpPr>
          <p:cNvPr id="16" name="Shape 10"/>
          <p:cNvSpPr/>
          <p:nvPr/>
        </p:nvSpPr>
        <p:spPr>
          <a:xfrm>
            <a:off x="914400" y="4572000"/>
            <a:ext cx="10360152" cy="822960"/>
          </a:xfrm>
          <a:prstGeom prst="roundRect">
            <a:avLst>
              <a:gd name="adj" fmla="val 8889"/>
            </a:avLst>
          </a:prstGeom>
          <a:solidFill>
            <a:srgbClr val="243B57"/>
          </a:solidFill>
          <a:ln w="12700">
            <a:solidFill>
              <a:srgbClr val="C98A2C"/>
            </a:solidFill>
            <a:prstDash val="solid"/>
          </a:ln>
        </p:spPr>
      </p:sp>
      <p:pic>
        <p:nvPicPr>
          <p:cNvPr id="17" name="Image 4" descr="/home/claude/assets/icons/rocket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4828032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691640" y="4572000"/>
            <a:ext cx="9326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begins with data profiling in Python and star-schema design in PostgreSQL.</a:t>
            </a:r>
            <a:endParaRPr lang="en-US" sz="1400" dirty="0"/>
          </a:p>
        </p:txBody>
      </p:sp>
      <p:sp>
        <p:nvSpPr>
          <p:cNvPr id="19" name="Text 12"/>
          <p:cNvSpPr/>
          <p:nvPr/>
        </p:nvSpPr>
        <p:spPr>
          <a:xfrm>
            <a:off x="457200" y="649224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Procurement Data Platform   ·   ABC Global Manufacturing Ltd.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1132</Words>
  <Application>Microsoft Office PowerPoint</Application>
  <PresentationFormat>Widescreen</PresentationFormat>
  <Paragraphs>230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Sargam Desai</cp:lastModifiedBy>
  <cp:revision>5</cp:revision>
  <dcterms:created xsi:type="dcterms:W3CDTF">2026-08-19T18:41:09Z</dcterms:created>
  <dcterms:modified xsi:type="dcterms:W3CDTF">2026-08-28T01:53:47Z</dcterms:modified>
</cp:coreProperties>
</file>