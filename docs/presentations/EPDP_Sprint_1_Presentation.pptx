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38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745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UC13  ·  ENTERPRISE DATA ENGINEERING 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224028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Procurement Data 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Data Discovery &amp; Ingestion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32688" y="4160520"/>
            <a:ext cx="2011680" cy="0"/>
          </a:xfrm>
          <a:prstGeom prst="line">
            <a:avLst/>
          </a:prstGeom>
          <a:noFill/>
          <a:ln w="25400">
            <a:solidFill>
              <a:srgbClr val="C98A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6688" y="489204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243B57"/>
          </a:solidFill>
          <a:ln/>
        </p:spPr>
      </p:sp>
      <p:pic>
        <p:nvPicPr>
          <p:cNvPr id="7" name="Image 0" descr="/home/claude/assets/icons/plug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511149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15288" y="5394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formats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15288" y="5715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Excel, JSON, XML, SQL ingested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32808" y="489204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243B57"/>
          </a:solidFill>
          <a:ln/>
        </p:spPr>
      </p:sp>
      <p:pic>
        <p:nvPicPr>
          <p:cNvPr id="11" name="Image 1" descr="/home/claude/assets/icons/database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408" y="51114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61408" y="5394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861408" y="5715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datasets landed in staging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78928" y="489204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243B57"/>
          </a:solidFill>
          <a:ln/>
        </p:spPr>
      </p:sp>
      <p:pic>
        <p:nvPicPr>
          <p:cNvPr id="15" name="Image 2" descr="/home/claude/assets/icons/shield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7528" y="511149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07528" y="5394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107528" y="5715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reconciled with audit logs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914400" y="635508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F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Global Manufacturing Ltd.   ·   Sprint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plu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1: Purpose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Procurement Raw Data Landing Zone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0992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9" name="Image 1" descr="/home/claude/assets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181051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6916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and document enterprise source systems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548640" y="248716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2" name="Image 2" descr="/home/claude/assets/icons/tab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587752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4688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datasets, columns, data types, keys, and business meanings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548640" y="326440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5" name="Image 3" descr="/home/claude/assets/icons/plu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364992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186684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heterogeneous data using Pentaho</a:t>
            </a:r>
            <a:endParaRPr lang="en-US" dirty="0"/>
          </a:p>
        </p:txBody>
      </p:sp>
      <p:sp>
        <p:nvSpPr>
          <p:cNvPr id="17" name="Shape 11"/>
          <p:cNvSpPr/>
          <p:nvPr/>
        </p:nvSpPr>
        <p:spPr>
          <a:xfrm>
            <a:off x="548640" y="404164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8" name="Image 4" descr="/home/claude/assets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4142232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40233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data into PostgreSQL staging tables</a:t>
            </a:r>
            <a:endParaRPr lang="en-US" dirty="0"/>
          </a:p>
        </p:txBody>
      </p:sp>
      <p:sp>
        <p:nvSpPr>
          <p:cNvPr id="20" name="Shape 13"/>
          <p:cNvSpPr/>
          <p:nvPr/>
        </p:nvSpPr>
        <p:spPr>
          <a:xfrm>
            <a:off x="548640" y="481888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21" name="Image 5" descr="/home/claude/assets/icons/gi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4919472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97280" y="48006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basic logging, exception handling, and Git commits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9005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Systems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procurement data originates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49824"/>
              </p:ext>
            </p:extLst>
          </p:nvPr>
        </p:nvGraphicFramePr>
        <p:xfrm>
          <a:off x="457200" y="1600200"/>
          <a:ext cx="11274552" cy="443484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Management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orders, procurement transactions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Requisition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Requests, departments, required dates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Supplier, product, financial and purchasing master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Portal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details, confirmations, delivery information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WMS / Inventory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Receipts, stock, warehouses, capacity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Payable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Invoices, payments, due dates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Management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Contracts, terms, values, validity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Performance Database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Delivery, quality, ratings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Heterogeneous Data Ingestion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different source formats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815582"/>
              </p:ext>
            </p:extLst>
          </p:nvPr>
        </p:nvGraphicFramePr>
        <p:xfrm>
          <a:off x="457200" y="1691640"/>
          <a:ext cx="11274552" cy="3108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Pentaho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Suppliers, contracts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File Input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or warehouse master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Excel Input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transactions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Input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or receipts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Input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table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 or AP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Input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074920"/>
            <a:ext cx="11277295" cy="685800"/>
          </a:xfrm>
          <a:prstGeom prst="roundRect">
            <a:avLst>
              <a:gd name="adj" fmla="val 10667"/>
            </a:avLst>
          </a:prstGeom>
          <a:solidFill>
            <a:srgbClr val="EAEFF3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0749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formats deliberately proves the pipeline can handle real enterprise heterogeneity, not just one clean file type.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Inventory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datasets for the landing zone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168356"/>
              </p:ext>
            </p:extLst>
          </p:nvPr>
        </p:nvGraphicFramePr>
        <p:xfrm>
          <a:off x="457200" y="1600200"/>
          <a:ext cx="11274552" cy="44348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orders / transactions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PO_ID, Supplier_ID, Product_ID, Quantity, Amount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requisitions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Requisition_ID, Department_ID, Required_Date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Supplier_ID, Name, Country, Rating, 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performance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Supplier_ID, PO_ID, Quality, Delivery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Product_ID, Category, Cost, Reorder_Level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/ warehouse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Product_ID, Warehouse_ID, Stock_Quantity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Invoice_ID, PO_ID, Amount, Payment_Status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Contract_ID, Supplier_ID, Start_Date, End_Date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documented for every dataset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852161"/>
              </p:ext>
            </p:extLst>
          </p:nvPr>
        </p:nvGraphicFramePr>
        <p:xfrm>
          <a:off x="457200" y="1600200"/>
          <a:ext cx="11274552" cy="443484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5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table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Supplier_ID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definition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supplier identifier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system / file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Portal / suppliers.csv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 notes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whitespace; standardize format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workfl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Architecture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raw-data ingestion flow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5567079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Sprint 1, the focus is reliable ingestion and raw landing — not final analytics.</a:t>
            </a:r>
            <a:endParaRPr lang="en-US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15E2E0A-0406-CB5F-333D-1D1A7E86F4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299"/>
          <a:stretch>
            <a:fillRect/>
          </a:stretch>
        </p:blipFill>
        <p:spPr>
          <a:xfrm>
            <a:off x="573740" y="1367747"/>
            <a:ext cx="11201453" cy="38676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and Staging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raw data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0992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9" name="Image 1" descr="/home/claude/assets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81051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67335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Preserve, don’t transform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097280" y="194767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keeps source data in its original form for traceability and reprocessing.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3" name="Image 2" descr="/home/claude/assets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770632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63347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landing area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097280" y="290779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tables give each source domain its own controlled PostgreSQL landing zone.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363016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7" name="Image 3" descr="/home/claude/assets/icons/tab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730752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59359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tables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097280" y="386791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supplier_staging, procurement_staging, inventory_staging, invoice_staging.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459028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21" name="Image 4" descr="/home/claude/assets/icons/ale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4690872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455371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heavy logic yet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097280" y="482803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applying business rules before the raw data is safely captured.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workfl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Pentaho Transformation Flow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ingestion pipeline works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FLOW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5351033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components: CSV / Excel / JSON / XML / Table Input, Select Values, String Operations, Filter Rows, Data Validator, and Table Output.</a:t>
            </a:r>
            <a:endParaRPr lang="en-US" sz="13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6630E-79C1-66D5-4413-B2CF1DFE1E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947"/>
          <a:stretch>
            <a:fillRect/>
          </a:stretch>
        </p:blipFill>
        <p:spPr>
          <a:xfrm>
            <a:off x="494308" y="1234440"/>
            <a:ext cx="11237444" cy="37599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Ingestion Rules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performed during Sprint 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0992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9" name="Image 1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181051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6916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are identified and mapped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2" name="Image 2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523744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404872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and data types are standardized for staging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3136392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5" name="Image 3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236976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118104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quantities, prices, and identifiers are parsed consistently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48640" y="3849624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8" name="Image 4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950208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3831336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 names and ingestion timestamps are retained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48640" y="4562856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21" name="Image 5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663440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97280" y="454456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files and malformed records are captured as exceptions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bu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and Exception Handling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ingestion observable and recoverable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616339"/>
              </p:ext>
            </p:extLst>
          </p:nvPr>
        </p:nvGraphicFramePr>
        <p:xfrm>
          <a:off x="457200" y="1645920"/>
          <a:ext cx="11274552" cy="41148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Job_ID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one execution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Source_File / Source_System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origin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Start_Time / End_Time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execution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Records_Read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input records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Records_Loaded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successful staging rows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Records_Rejected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failures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Error_Message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outcome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refre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that records are accounted for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2579294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691640"/>
            <a:ext cx="24329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records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036494" y="199796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11" name="Shape 8"/>
          <p:cNvSpPr/>
          <p:nvPr/>
        </p:nvSpPr>
        <p:spPr>
          <a:xfrm>
            <a:off x="3356534" y="1691640"/>
            <a:ext cx="2579294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12" name="Text 9"/>
          <p:cNvSpPr/>
          <p:nvPr/>
        </p:nvSpPr>
        <p:spPr>
          <a:xfrm>
            <a:off x="3429686" y="1691640"/>
            <a:ext cx="24329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records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35828" y="199796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14" name="Shape 11"/>
          <p:cNvSpPr/>
          <p:nvPr/>
        </p:nvSpPr>
        <p:spPr>
          <a:xfrm>
            <a:off x="6255868" y="1691640"/>
            <a:ext cx="2579294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15" name="Text 12"/>
          <p:cNvSpPr/>
          <p:nvPr/>
        </p:nvSpPr>
        <p:spPr>
          <a:xfrm>
            <a:off x="6329020" y="1691640"/>
            <a:ext cx="24329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records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835161" y="199796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17" name="Shape 14"/>
          <p:cNvSpPr/>
          <p:nvPr/>
        </p:nvSpPr>
        <p:spPr>
          <a:xfrm>
            <a:off x="9155201" y="1691640"/>
            <a:ext cx="2579294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18" name="Text 15"/>
          <p:cNvSpPr/>
          <p:nvPr/>
        </p:nvSpPr>
        <p:spPr>
          <a:xfrm>
            <a:off x="9228353" y="1691640"/>
            <a:ext cx="24329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check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06324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1B2A41"/>
          </a:solidFill>
          <a:ln/>
        </p:spPr>
      </p:sp>
      <p:pic>
        <p:nvPicPr>
          <p:cNvPr id="20" name="Image 1" descr="/home/claude/assets/icons/char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10128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325880" y="306324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 read  =  4,975 loaded  +  25 rejected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457200" y="4206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records should never simply disappear — store the reason and source reference for investigation, so every input record is accounted for.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gi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Collaboration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Sprint 1 work is recorded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1612849" cy="868680"/>
          </a:xfrm>
          <a:prstGeom prst="roundRect">
            <a:avLst>
              <a:gd name="adj" fmla="val 7368"/>
            </a:avLst>
          </a:prstGeom>
          <a:solidFill>
            <a:srgbClr val="3E6680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828800"/>
            <a:ext cx="146654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070049" y="218084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11" name="Shape 8"/>
          <p:cNvSpPr/>
          <p:nvPr/>
        </p:nvSpPr>
        <p:spPr>
          <a:xfrm>
            <a:off x="2390089" y="1828800"/>
            <a:ext cx="1612849" cy="868680"/>
          </a:xfrm>
          <a:prstGeom prst="roundRect">
            <a:avLst>
              <a:gd name="adj" fmla="val 7368"/>
            </a:avLst>
          </a:prstGeom>
          <a:solidFill>
            <a:srgbClr val="3E6680"/>
          </a:solidFill>
          <a:ln/>
        </p:spPr>
      </p:sp>
      <p:sp>
        <p:nvSpPr>
          <p:cNvPr id="12" name="Text 9"/>
          <p:cNvSpPr/>
          <p:nvPr/>
        </p:nvSpPr>
        <p:spPr>
          <a:xfrm>
            <a:off x="2463241" y="1828800"/>
            <a:ext cx="146654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02938" y="218084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14" name="Shape 11"/>
          <p:cNvSpPr/>
          <p:nvPr/>
        </p:nvSpPr>
        <p:spPr>
          <a:xfrm>
            <a:off x="4322978" y="1828800"/>
            <a:ext cx="1612849" cy="868680"/>
          </a:xfrm>
          <a:prstGeom prst="roundRect">
            <a:avLst>
              <a:gd name="adj" fmla="val 7368"/>
            </a:avLst>
          </a:prstGeom>
          <a:solidFill>
            <a:srgbClr val="3E6680"/>
          </a:solidFill>
          <a:ln/>
        </p:spPr>
      </p:sp>
      <p:sp>
        <p:nvSpPr>
          <p:cNvPr id="15" name="Text 12"/>
          <p:cNvSpPr/>
          <p:nvPr/>
        </p:nvSpPr>
        <p:spPr>
          <a:xfrm>
            <a:off x="4396130" y="1828800"/>
            <a:ext cx="146654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ingestion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35828" y="218084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17" name="Shape 14"/>
          <p:cNvSpPr/>
          <p:nvPr/>
        </p:nvSpPr>
        <p:spPr>
          <a:xfrm>
            <a:off x="6255868" y="1828800"/>
            <a:ext cx="1612849" cy="868680"/>
          </a:xfrm>
          <a:prstGeom prst="roundRect">
            <a:avLst>
              <a:gd name="adj" fmla="val 7368"/>
            </a:avLst>
          </a:prstGeom>
          <a:solidFill>
            <a:srgbClr val="3E6680"/>
          </a:solidFill>
          <a:ln/>
        </p:spPr>
      </p:sp>
      <p:sp>
        <p:nvSpPr>
          <p:cNvPr id="18" name="Text 15"/>
          <p:cNvSpPr/>
          <p:nvPr/>
        </p:nvSpPr>
        <p:spPr>
          <a:xfrm>
            <a:off x="6329020" y="1828800"/>
            <a:ext cx="146654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changes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868717" y="218084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20" name="Shape 17"/>
          <p:cNvSpPr/>
          <p:nvPr/>
        </p:nvSpPr>
        <p:spPr>
          <a:xfrm>
            <a:off x="8188757" y="1828800"/>
            <a:ext cx="1612849" cy="868680"/>
          </a:xfrm>
          <a:prstGeom prst="roundRect">
            <a:avLst>
              <a:gd name="adj" fmla="val 7368"/>
            </a:avLst>
          </a:prstGeom>
          <a:solidFill>
            <a:srgbClr val="3E6680"/>
          </a:solidFill>
          <a:ln/>
        </p:spPr>
      </p:sp>
      <p:sp>
        <p:nvSpPr>
          <p:cNvPr id="21" name="Text 18"/>
          <p:cNvSpPr/>
          <p:nvPr/>
        </p:nvSpPr>
        <p:spPr>
          <a:xfrm>
            <a:off x="8261909" y="1828800"/>
            <a:ext cx="146654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9801606" y="218084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23" name="Shape 20"/>
          <p:cNvSpPr/>
          <p:nvPr/>
        </p:nvSpPr>
        <p:spPr>
          <a:xfrm>
            <a:off x="10121646" y="1828800"/>
            <a:ext cx="1612849" cy="868680"/>
          </a:xfrm>
          <a:prstGeom prst="roundRect">
            <a:avLst>
              <a:gd name="adj" fmla="val 7368"/>
            </a:avLst>
          </a:prstGeom>
          <a:solidFill>
            <a:srgbClr val="3E6680"/>
          </a:solidFill>
          <a:ln/>
        </p:spPr>
      </p:sp>
      <p:sp>
        <p:nvSpPr>
          <p:cNvPr id="24" name="Text 21"/>
          <p:cNvSpPr/>
          <p:nvPr/>
        </p:nvSpPr>
        <p:spPr>
          <a:xfrm>
            <a:off x="10194798" y="1828800"/>
            <a:ext cx="146654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merge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3154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Pentaho transformations, SQL scripts, Python utilities, documentation, and sample configuration — never passwords or database credentials.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file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Deliverables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submitted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9" name="Image 1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20240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828800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Inventory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414016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2" name="Image 2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487168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2395728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2980944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5" name="Image 3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054096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2962656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ETL pipelines for the selected formats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57200" y="3547872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8" name="Image 4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21024"/>
            <a:ext cx="146304" cy="1463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3529584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staging database and table scripts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457200" y="4114800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21" name="Image 5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187952"/>
            <a:ext cx="146304" cy="14630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8680" y="4096512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ingestion logs and exception-handling evidence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457200" y="4681728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24" name="Image 6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754880"/>
            <a:ext cx="146304" cy="14630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68680" y="4663440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history and updated repository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Success Criteria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Sprint 1 be considered complete?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9" name="Image 1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20240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828800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selected source dataset has a documented owner, format, schema, and purpose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414016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2" name="Image 2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487168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2395728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selected format can be read successfully through Pentaho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2980944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5" name="Image 3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054096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2962656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 are loaded into the correct PostgreSQL staging tables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57200" y="3547872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8" name="Image 4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21024"/>
            <a:ext cx="146304" cy="1463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3529584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counts can be reconciled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457200" y="4114800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21" name="Image 5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187952"/>
            <a:ext cx="146304" cy="14630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8680" y="4096512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logged with meaningful error messages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457200" y="4681728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24" name="Image 6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754880"/>
            <a:ext cx="146304" cy="14630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68680" y="4663440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artifacts are committed to GitHub and ready for Sprint 2 profiling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 · 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unknown source data to a controlled landing zone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32688" y="1993392"/>
            <a:ext cx="274320" cy="274320"/>
          </a:xfrm>
          <a:prstGeom prst="ellipse">
            <a:avLst/>
          </a:prstGeom>
          <a:solidFill>
            <a:srgbClr val="243B57"/>
          </a:solidFill>
          <a:ln/>
        </p:spPr>
      </p:sp>
      <p:pic>
        <p:nvPicPr>
          <p:cNvPr id="5" name="Image 0" descr="/home/claude/assets/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057400"/>
            <a:ext cx="146304" cy="146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20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defined the business problem and target architecture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932688" y="2587752"/>
            <a:ext cx="274320" cy="274320"/>
          </a:xfrm>
          <a:prstGeom prst="ellipse">
            <a:avLst/>
          </a:prstGeom>
          <a:solidFill>
            <a:srgbClr val="243B57"/>
          </a:solidFill>
          <a:ln/>
        </p:spPr>
      </p:sp>
      <p:pic>
        <p:nvPicPr>
          <p:cNvPr id="8" name="Image 1" descr="/home/claude/assets/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651760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14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discovers the source data and establishes the ingestion foundation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932688" y="3182112"/>
            <a:ext cx="274320" cy="274320"/>
          </a:xfrm>
          <a:prstGeom prst="ellipse">
            <a:avLst/>
          </a:prstGeom>
          <a:solidFill>
            <a:srgbClr val="243B57"/>
          </a:solidFill>
          <a:ln/>
        </p:spPr>
      </p:sp>
      <p:pic>
        <p:nvPicPr>
          <p:cNvPr id="11" name="Image 2" descr="/home/claude/assets/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46120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108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will profile, clean, validate, and model the data warehouse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932688" y="3776472"/>
            <a:ext cx="274320" cy="274320"/>
          </a:xfrm>
          <a:prstGeom prst="ellipse">
            <a:avLst/>
          </a:prstGeom>
          <a:solidFill>
            <a:srgbClr val="243B57"/>
          </a:solidFill>
          <a:ln/>
        </p:spPr>
      </p:sp>
      <p:pic>
        <p:nvPicPr>
          <p:cNvPr id="14" name="Image 3" descr="/home/claude/assets/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840480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703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will add lineage, governance, orchestration, and Power BI analytics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914400" y="4572000"/>
            <a:ext cx="10360152" cy="822960"/>
          </a:xfrm>
          <a:prstGeom prst="roundRect">
            <a:avLst>
              <a:gd name="adj" fmla="val 8889"/>
            </a:avLst>
          </a:prstGeom>
          <a:solidFill>
            <a:srgbClr val="243B57"/>
          </a:solidFill>
          <a:ln w="12700">
            <a:solidFill>
              <a:srgbClr val="C98A2C"/>
            </a:solidFill>
            <a:prstDash val="solid"/>
          </a:ln>
        </p:spPr>
      </p:sp>
      <p:pic>
        <p:nvPicPr>
          <p:cNvPr id="17" name="Image 4" descr="/home/claude/assets/icons/rocke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82803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91640" y="457200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begins with data profiling in Python and star-schema design in PostgreSQL.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1138</Words>
  <Application>Microsoft Office PowerPoint</Application>
  <PresentationFormat>Widescreen</PresentationFormat>
  <Paragraphs>233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jaheen jallaludin</cp:lastModifiedBy>
  <cp:revision>4</cp:revision>
  <dcterms:created xsi:type="dcterms:W3CDTF">2026-08-19T18:41:09Z</dcterms:created>
  <dcterms:modified xsi:type="dcterms:W3CDTF">2026-08-20T01:50:30Z</dcterms:modified>
</cp:coreProperties>
</file>